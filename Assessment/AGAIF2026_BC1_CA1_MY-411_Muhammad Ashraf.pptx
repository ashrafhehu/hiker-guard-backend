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8288000" cy="10287000"/>
  <p:notesSz cx="6858000" cy="9144000"/>
  <p:embeddedFontLst>
    <p:embeddedFont>
      <p:font typeface="Helvetica World" charset="1" panose="020B0500040000020004"/>
      <p:regular r:id="rId7"/>
    </p:embeddedFont>
    <p:embeddedFont>
      <p:font typeface="Helvetica World Bold" charset="1" panose="020B08000400000200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4483" y="389594"/>
            <a:ext cx="1968488" cy="461859"/>
          </a:xfrm>
          <a:custGeom>
            <a:avLst/>
            <a:gdLst/>
            <a:ahLst/>
            <a:cxnLst/>
            <a:rect r="r" b="b" t="t" l="l"/>
            <a:pathLst>
              <a:path h="461859" w="1968488">
                <a:moveTo>
                  <a:pt x="0" y="0"/>
                </a:moveTo>
                <a:lnTo>
                  <a:pt x="1968488" y="0"/>
                </a:lnTo>
                <a:lnTo>
                  <a:pt x="1968488" y="461859"/>
                </a:lnTo>
                <a:lnTo>
                  <a:pt x="0" y="461859"/>
                </a:lnTo>
                <a:lnTo>
                  <a:pt x="0" y="0"/>
                </a:lnTo>
                <a:close/>
              </a:path>
            </a:pathLst>
          </a:custGeom>
          <a:blipFill>
            <a:blip r:embed="rId2"/>
            <a:stretch>
              <a:fillRect l="0" t="0" r="0" b="0"/>
            </a:stretch>
          </a:blipFill>
        </p:spPr>
      </p:sp>
      <p:grpSp>
        <p:nvGrpSpPr>
          <p:cNvPr name="Group 3" id="3"/>
          <p:cNvGrpSpPr/>
          <p:nvPr/>
        </p:nvGrpSpPr>
        <p:grpSpPr>
          <a:xfrm rot="0">
            <a:off x="238125" y="1295400"/>
            <a:ext cx="3457575" cy="3943350"/>
            <a:chOff x="0" y="0"/>
            <a:chExt cx="910637" cy="1038578"/>
          </a:xfrm>
        </p:grpSpPr>
        <p:sp>
          <p:nvSpPr>
            <p:cNvPr name="Freeform 4" id="4"/>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1800AD"/>
              </a:solidFill>
              <a:prstDash val="solid"/>
              <a:round/>
            </a:ln>
          </p:spPr>
        </p:sp>
        <p:sp>
          <p:nvSpPr>
            <p:cNvPr name="TextBox 5" id="5"/>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Real-World Problem: </a:t>
              </a:r>
              <a:r>
                <a:rPr b="0" sz="850">
                  <a:solidFill>
                    <a:srgbClr val="1E293B"/>
                  </a:solidFill>
                  <a:latin typeface="Arial"/>
                </a:rPr>
                <a:t>Mountainous terrain, deep valleys, and dense rainforest canopies severely degrade or sever cellular connectivity along remote hiking corridors (e.g., Gunung Tahan, Bukit Larut). Hikers losing signal without warning cannot transmit live GPS telemetry, request emergency aid, or access online safety maps.</a:t>
              </a:r>
            </a:p>
            <a:p>
              <a:pPr algn="l">
                <a:lnSpc>
                  <a:spcPct val="112000"/>
                </a:lnSpc>
                <a:spcAft>
                  <a:spcPts val="250"/>
                </a:spcAft>
              </a:pPr>
              <a:r>
                <a:rPr b="1" sz="850">
                  <a:solidFill>
                    <a:srgbClr val="1E3A8A"/>
                  </a:solidFill>
                  <a:latin typeface="Arial"/>
                </a:rPr>
                <a:t>• Commercial Data Deficiency: </a:t>
              </a:r>
              <a:r>
                <a:rPr b="0" sz="850">
                  <a:solidFill>
                    <a:srgbClr val="1E293B"/>
                  </a:solidFill>
                  <a:latin typeface="Arial"/>
                </a:rPr>
                <a:t>Commercial MNO coverage maps are macro-scale, heavily aggregated, and overly optimistic in rural/montane areas, creating a false sense of coverage security.</a:t>
              </a:r>
            </a:p>
            <a:p>
              <a:pPr algn="l">
                <a:lnSpc>
                  <a:spcPct val="112000"/>
                </a:lnSpc>
                <a:spcAft>
                  <a:spcPts val="250"/>
                </a:spcAft>
              </a:pPr>
              <a:r>
                <a:rPr b="1" sz="850">
                  <a:solidFill>
                    <a:srgbClr val="1E3A8A"/>
                  </a:solidFill>
                  <a:latin typeface="Arial"/>
                </a:rPr>
                <a:t>• Geographic Context: </a:t>
              </a:r>
              <a:r>
                <a:rPr b="0" sz="850">
                  <a:solidFill>
                    <a:srgbClr val="1E293B"/>
                  </a:solidFill>
                  <a:latin typeface="Arial"/>
                </a:rPr>
                <a:t>Tropical montane &amp; rainforest hiking trails in Malaysia characterized by steep elevation gradients, severe ridge/valley line-of-sight obstruction, and dense environmental vegetation clutter.</a:t>
              </a:r>
            </a:p>
          </p:txBody>
        </p:sp>
      </p:grpSp>
      <p:grpSp>
        <p:nvGrpSpPr>
          <p:cNvPr name="Group 6" id="6"/>
          <p:cNvGrpSpPr/>
          <p:nvPr/>
        </p:nvGrpSpPr>
        <p:grpSpPr>
          <a:xfrm rot="0">
            <a:off x="238125" y="1295400"/>
            <a:ext cx="3457575" cy="819150"/>
            <a:chOff x="0" y="0"/>
            <a:chExt cx="910637" cy="215743"/>
          </a:xfrm>
        </p:grpSpPr>
        <p:sp>
          <p:nvSpPr>
            <p:cNvPr name="Freeform 7" id="7"/>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1800AD"/>
            </a:solidFill>
          </p:spPr>
        </p:sp>
        <p:sp>
          <p:nvSpPr>
            <p:cNvPr name="TextBox 8" id="8"/>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9" id="9"/>
          <p:cNvGrpSpPr/>
          <p:nvPr/>
        </p:nvGrpSpPr>
        <p:grpSpPr>
          <a:xfrm rot="0">
            <a:off x="295275" y="1343025"/>
            <a:ext cx="647700" cy="685800"/>
            <a:chOff x="0" y="0"/>
            <a:chExt cx="1062792" cy="1125309"/>
          </a:xfrm>
        </p:grpSpPr>
        <p:sp>
          <p:nvSpPr>
            <p:cNvPr name="Freeform 10" id="10"/>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11" id="11"/>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000000"/>
                  </a:solidFill>
                  <a:latin typeface="Helvetica World"/>
                  <a:ea typeface="Helvetica World"/>
                  <a:cs typeface="Helvetica World"/>
                  <a:sym typeface="Helvetica World"/>
                </a:rPr>
                <a:t>1</a:t>
              </a:r>
            </a:p>
          </p:txBody>
        </p:sp>
      </p:grpSp>
      <p:grpSp>
        <p:nvGrpSpPr>
          <p:cNvPr name="Group 12" id="12"/>
          <p:cNvGrpSpPr/>
          <p:nvPr/>
        </p:nvGrpSpPr>
        <p:grpSpPr>
          <a:xfrm rot="0">
            <a:off x="3829050" y="1295400"/>
            <a:ext cx="3457575" cy="3943350"/>
            <a:chOff x="0" y="0"/>
            <a:chExt cx="910637" cy="1038578"/>
          </a:xfrm>
        </p:grpSpPr>
        <p:sp>
          <p:nvSpPr>
            <p:cNvPr name="Freeform 13" id="13"/>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2B7ECD"/>
              </a:solidFill>
              <a:prstDash val="solid"/>
              <a:round/>
            </a:ln>
          </p:spPr>
        </p:sp>
        <p:sp>
          <p:nvSpPr>
            <p:cNvPr name="TextBox 14" id="14"/>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Outdoor Hikers &amp; Guides: </a:t>
              </a:r>
              <a:r>
                <a:rPr b="0" sz="850">
                  <a:solidFill>
                    <a:srgbClr val="1E293B"/>
                  </a:solidFill>
                  <a:latin typeface="Arial"/>
                </a:rPr>
                <a:t>Receive pre-hike connectivity gap alerts, offline map caching prompts, and automatic trajectory queuing before entering dead zones.</a:t>
              </a:r>
            </a:p>
            <a:p>
              <a:pPr algn="l">
                <a:lnSpc>
                  <a:spcPct val="112000"/>
                </a:lnSpc>
                <a:spcAft>
                  <a:spcPts val="250"/>
                </a:spcAft>
              </a:pPr>
              <a:r>
                <a:rPr b="1" sz="850">
                  <a:solidFill>
                    <a:srgbClr val="1E3A8A"/>
                  </a:solidFill>
                  <a:latin typeface="Arial"/>
                </a:rPr>
                <a:t>• Park &amp; Forestry Authorities: </a:t>
              </a:r>
              <a:r>
                <a:rPr b="0" sz="850">
                  <a:solidFill>
                    <a:srgbClr val="1E293B"/>
                  </a:solidFill>
                  <a:latin typeface="Arial"/>
                </a:rPr>
                <a:t>Utilize trail-segment risk maps for visitor management, ranger safety, and trail infrastructure planning.</a:t>
              </a:r>
            </a:p>
            <a:p>
              <a:pPr algn="l">
                <a:lnSpc>
                  <a:spcPct val="112000"/>
                </a:lnSpc>
                <a:spcAft>
                  <a:spcPts val="250"/>
                </a:spcAft>
              </a:pPr>
              <a:r>
                <a:rPr b="1" sz="850">
                  <a:solidFill>
                    <a:srgbClr val="1E3A8A"/>
                  </a:solidFill>
                  <a:latin typeface="Arial"/>
                </a:rPr>
                <a:t>• Search &amp; Rescue (SAR) Teams: </a:t>
              </a:r>
              <a:r>
                <a:rPr b="0" sz="850">
                  <a:solidFill>
                    <a:srgbClr val="1E293B"/>
                  </a:solidFill>
                  <a:latin typeface="Arial"/>
                </a:rPr>
                <a:t>Access last-known connectivity boundary layers to narrow search radii during emergency search operations (BOMBA, SMART, APM).</a:t>
              </a:r>
            </a:p>
            <a:p>
              <a:pPr algn="l">
                <a:lnSpc>
                  <a:spcPct val="112000"/>
                </a:lnSpc>
                <a:spcAft>
                  <a:spcPts val="250"/>
                </a:spcAft>
              </a:pPr>
              <a:r>
                <a:rPr b="1" sz="850">
                  <a:solidFill>
                    <a:srgbClr val="1E3A8A"/>
                  </a:solidFill>
                  <a:latin typeface="Arial"/>
                </a:rPr>
                <a:t>• Telecom Regulators &amp; MNOs: </a:t>
              </a:r>
              <a:r>
                <a:rPr b="0" sz="850">
                  <a:solidFill>
                    <a:srgbClr val="1E293B"/>
                  </a:solidFill>
                  <a:latin typeface="Arial"/>
                </a:rPr>
                <a:t>Utilize empirical gap evidence for targeted rural coverage infrastructure planning.</a:t>
              </a:r>
            </a:p>
          </p:txBody>
        </p:sp>
      </p:grpSp>
      <p:grpSp>
        <p:nvGrpSpPr>
          <p:cNvPr name="Group 15" id="15"/>
          <p:cNvGrpSpPr/>
          <p:nvPr/>
        </p:nvGrpSpPr>
        <p:grpSpPr>
          <a:xfrm rot="0">
            <a:off x="3829050" y="1295400"/>
            <a:ext cx="3457575" cy="819150"/>
            <a:chOff x="0" y="0"/>
            <a:chExt cx="910637" cy="215743"/>
          </a:xfrm>
        </p:grpSpPr>
        <p:sp>
          <p:nvSpPr>
            <p:cNvPr name="Freeform 16" id="16"/>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2B7ECD"/>
            </a:solidFill>
          </p:spPr>
        </p:sp>
        <p:sp>
          <p:nvSpPr>
            <p:cNvPr name="TextBox 17" id="17"/>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18" id="18"/>
          <p:cNvGrpSpPr/>
          <p:nvPr/>
        </p:nvGrpSpPr>
        <p:grpSpPr>
          <a:xfrm rot="0">
            <a:off x="3886200" y="1343025"/>
            <a:ext cx="647700" cy="685800"/>
            <a:chOff x="0" y="0"/>
            <a:chExt cx="1062792" cy="1125309"/>
          </a:xfrm>
        </p:grpSpPr>
        <p:sp>
          <p:nvSpPr>
            <p:cNvPr name="Freeform 19" id="19"/>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20" id="20"/>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1B1A1A"/>
                  </a:solidFill>
                  <a:latin typeface="Helvetica World"/>
                  <a:ea typeface="Helvetica World"/>
                  <a:cs typeface="Helvetica World"/>
                  <a:sym typeface="Helvetica World"/>
                </a:rPr>
                <a:t>2</a:t>
              </a:r>
            </a:p>
          </p:txBody>
        </p:sp>
      </p:grpSp>
      <p:grpSp>
        <p:nvGrpSpPr>
          <p:cNvPr name="Group 21" id="21"/>
          <p:cNvGrpSpPr/>
          <p:nvPr/>
        </p:nvGrpSpPr>
        <p:grpSpPr>
          <a:xfrm rot="0">
            <a:off x="7419975" y="1295400"/>
            <a:ext cx="3457575" cy="3943350"/>
            <a:chOff x="0" y="0"/>
            <a:chExt cx="910637" cy="1038578"/>
          </a:xfrm>
        </p:grpSpPr>
        <p:sp>
          <p:nvSpPr>
            <p:cNvPr name="Freeform 22" id="22"/>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3398A1"/>
              </a:solidFill>
              <a:prstDash val="solid"/>
              <a:round/>
            </a:ln>
          </p:spPr>
        </p:sp>
        <p:sp>
          <p:nvSpPr>
            <p:cNvPr name="TextBox 23" id="23"/>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Spatial Resolution: </a:t>
              </a:r>
              <a:r>
                <a:rPr b="0" sz="850">
                  <a:solidFill>
                    <a:srgbClr val="1E293B"/>
                  </a:solidFill>
                  <a:latin typeface="Arial"/>
                </a:rPr>
                <a:t>Resampled ~250m deterministic vector trail segments (segment_id) derived from high-precision GPX trail geometries.</a:t>
              </a:r>
            </a:p>
            <a:p>
              <a:pPr algn="l">
                <a:lnSpc>
                  <a:spcPct val="112000"/>
                </a:lnSpc>
                <a:spcAft>
                  <a:spcPts val="250"/>
                </a:spcAft>
              </a:pPr>
              <a:r>
                <a:rPr b="1" sz="850">
                  <a:solidFill>
                    <a:srgbClr val="1E3A8A"/>
                  </a:solidFill>
                  <a:latin typeface="Arial"/>
                </a:rPr>
                <a:t>• Topographic &amp; Environmental Variables: </a:t>
              </a:r>
              <a:r>
                <a:rPr b="0" sz="850">
                  <a:solidFill>
                    <a:srgbClr val="1E293B"/>
                  </a:solidFill>
                  <a:latin typeface="Arial"/>
                </a:rPr>
                <a:t>Elevation, slope, Terrain Ruggedness Index (TRI), line-of-sight terrain obstruction profiles to cell towers, and forest canopy clutter.</a:t>
              </a:r>
            </a:p>
            <a:p>
              <a:pPr algn="l">
                <a:lnSpc>
                  <a:spcPct val="112000"/>
                </a:lnSpc>
                <a:spcAft>
                  <a:spcPts val="250"/>
                </a:spcAft>
              </a:pPr>
              <a:r>
                <a:rPr b="1" sz="850">
                  <a:solidFill>
                    <a:srgbClr val="1E3A8A"/>
                  </a:solidFill>
                  <a:latin typeface="Arial"/>
                </a:rPr>
                <a:t>• Geographic Domain Transfer: </a:t>
              </a:r>
              <a:r>
                <a:rPr b="0" sz="850">
                  <a:solidFill>
                    <a:srgbClr val="1E293B"/>
                  </a:solidFill>
                  <a:latin typeface="Arial"/>
                </a:rPr>
                <a:t>Bridges data-rich source geographies (Anatel 4G Brazil, FCC BDC US 4G LTE, Ofcom UK 4G) to data-sparse target tropical mountain trails in Malaysia via domain adaptation.</a:t>
              </a:r>
            </a:p>
          </p:txBody>
        </p:sp>
      </p:grpSp>
      <p:grpSp>
        <p:nvGrpSpPr>
          <p:cNvPr name="Group 24" id="24"/>
          <p:cNvGrpSpPr/>
          <p:nvPr/>
        </p:nvGrpSpPr>
        <p:grpSpPr>
          <a:xfrm rot="0">
            <a:off x="7419975" y="1295400"/>
            <a:ext cx="3457575" cy="819150"/>
            <a:chOff x="0" y="0"/>
            <a:chExt cx="910637" cy="215743"/>
          </a:xfrm>
        </p:grpSpPr>
        <p:sp>
          <p:nvSpPr>
            <p:cNvPr name="Freeform 25" id="25"/>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3398A1"/>
            </a:solidFill>
          </p:spPr>
        </p:sp>
        <p:sp>
          <p:nvSpPr>
            <p:cNvPr name="TextBox 26" id="26"/>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27" id="27"/>
          <p:cNvGrpSpPr/>
          <p:nvPr/>
        </p:nvGrpSpPr>
        <p:grpSpPr>
          <a:xfrm rot="0">
            <a:off x="7477125" y="1343025"/>
            <a:ext cx="647700" cy="685800"/>
            <a:chOff x="0" y="0"/>
            <a:chExt cx="1062792" cy="1125309"/>
          </a:xfrm>
        </p:grpSpPr>
        <p:sp>
          <p:nvSpPr>
            <p:cNvPr name="Freeform 28" id="28"/>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29" id="29"/>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1B1A1A"/>
                  </a:solidFill>
                  <a:latin typeface="Helvetica World"/>
                  <a:ea typeface="Helvetica World"/>
                  <a:cs typeface="Helvetica World"/>
                  <a:sym typeface="Helvetica World"/>
                </a:rPr>
                <a:t>3</a:t>
              </a:r>
            </a:p>
          </p:txBody>
        </p:sp>
      </p:grpSp>
      <p:grpSp>
        <p:nvGrpSpPr>
          <p:cNvPr name="Group 30" id="30"/>
          <p:cNvGrpSpPr/>
          <p:nvPr/>
        </p:nvGrpSpPr>
        <p:grpSpPr>
          <a:xfrm rot="0">
            <a:off x="11010900" y="1295400"/>
            <a:ext cx="3457575" cy="3943350"/>
            <a:chOff x="0" y="0"/>
            <a:chExt cx="910637" cy="1038578"/>
          </a:xfrm>
        </p:grpSpPr>
        <p:sp>
          <p:nvSpPr>
            <p:cNvPr name="Freeform 31" id="31"/>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5D9941"/>
              </a:solidFill>
              <a:prstDash val="solid"/>
              <a:round/>
            </a:ln>
          </p:spPr>
        </p:sp>
        <p:sp>
          <p:nvSpPr>
            <p:cNvPr name="TextBox 32" id="32"/>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00">
                  <a:solidFill>
                    <a:srgbClr val="1E3A8A"/>
                  </a:solidFill>
                  <a:latin typeface="Arial"/>
                </a:rPr>
                <a:t>• Copernicus 30m DEM: </a:t>
              </a:r>
              <a:r>
                <a:rPr b="0" sz="800">
                  <a:solidFill>
                    <a:srgbClr val="1E293B"/>
                  </a:solidFill>
                  <a:latin typeface="Arial"/>
                </a:rPr>
                <a:t>Elevation, slope, TRI, line-of-sight elevation obstruction profiles.</a:t>
              </a:r>
            </a:p>
            <a:p>
              <a:pPr algn="l">
                <a:lnSpc>
                  <a:spcPct val="112000"/>
                </a:lnSpc>
                <a:spcAft>
                  <a:spcPts val="250"/>
                </a:spcAft>
              </a:pPr>
              <a:r>
                <a:rPr b="1" sz="800">
                  <a:solidFill>
                    <a:srgbClr val="1E3A8A"/>
                  </a:solidFill>
                  <a:latin typeface="Arial"/>
                </a:rPr>
                <a:t>• ESA WorldCover 10m: </a:t>
              </a:r>
              <a:r>
                <a:rPr b="0" sz="800">
                  <a:solidFill>
                    <a:srgbClr val="1E293B"/>
                  </a:solidFill>
                  <a:latin typeface="Arial"/>
                </a:rPr>
                <a:t>Land-cover classification, tree cover %, environmental clutter proxy.</a:t>
              </a:r>
            </a:p>
            <a:p>
              <a:pPr algn="l">
                <a:lnSpc>
                  <a:spcPct val="112000"/>
                </a:lnSpc>
                <a:spcAft>
                  <a:spcPts val="250"/>
                </a:spcAft>
              </a:pPr>
              <a:r>
                <a:rPr b="1" sz="800">
                  <a:solidFill>
                    <a:srgbClr val="1E3A8A"/>
                  </a:solidFill>
                  <a:latin typeface="Arial"/>
                </a:rPr>
                <a:t>• OpenCellID: </a:t>
              </a:r>
              <a:r>
                <a:rPr b="0" sz="800">
                  <a:solidFill>
                    <a:srgbClr val="1E293B"/>
                  </a:solidFill>
                  <a:latin typeface="Arial"/>
                </a:rPr>
                <a:t>Distance to nearest cell tower, tower density (1km/3km/5km radii), radio tech.</a:t>
              </a:r>
            </a:p>
            <a:p>
              <a:pPr algn="l">
                <a:lnSpc>
                  <a:spcPct val="112000"/>
                </a:lnSpc>
                <a:spcAft>
                  <a:spcPts val="250"/>
                </a:spcAft>
              </a:pPr>
              <a:r>
                <a:rPr b="1" sz="800">
                  <a:solidFill>
                    <a:srgbClr val="1E3A8A"/>
                  </a:solidFill>
                  <a:latin typeface="Arial"/>
                </a:rPr>
                <a:t>• Ookla Mobile Performance: </a:t>
              </a:r>
              <a:r>
                <a:rPr b="0" sz="800">
                  <a:solidFill>
                    <a:srgbClr val="1E293B"/>
                  </a:solidFill>
                  <a:latin typeface="Arial"/>
                </a:rPr>
                <a:t>Speed, latency, device count (positive coverage evidence only; missing = unobserved).</a:t>
              </a:r>
            </a:p>
            <a:p>
              <a:pPr algn="l">
                <a:lnSpc>
                  <a:spcPct val="112000"/>
                </a:lnSpc>
                <a:spcAft>
                  <a:spcPts val="250"/>
                </a:spcAft>
              </a:pPr>
              <a:r>
                <a:rPr b="1" sz="800">
                  <a:solidFill>
                    <a:srgbClr val="1E3A8A"/>
                  </a:solidFill>
                  <a:latin typeface="Arial"/>
                </a:rPr>
                <a:t>• GPX Geometries: </a:t>
              </a:r>
              <a:r>
                <a:rPr b="0" sz="800">
                  <a:solidFill>
                    <a:srgbClr val="1E293B"/>
                  </a:solidFill>
                  <a:latin typeface="Arial"/>
                </a:rPr>
                <a:t>Resampled ~250m trail linestring segments.</a:t>
              </a:r>
            </a:p>
            <a:p>
              <a:pPr algn="l">
                <a:lnSpc>
                  <a:spcPct val="112000"/>
                </a:lnSpc>
                <a:spcAft>
                  <a:spcPts val="250"/>
                </a:spcAft>
              </a:pPr>
              <a:r>
                <a:rPr b="1" sz="800">
                  <a:solidFill>
                    <a:srgbClr val="1E3A8A"/>
                  </a:solidFill>
                  <a:latin typeface="Arial"/>
                </a:rPr>
                <a:t>• Cross-Country Labels: </a:t>
              </a:r>
              <a:r>
                <a:rPr b="0" sz="800">
                  <a:solidFill>
                    <a:srgbClr val="1E293B"/>
                  </a:solidFill>
                  <a:latin typeface="Arial"/>
                </a:rPr>
                <a:t>Anatel 4G Brazil (primary weak label), FCC BDC US 4G LTE (secondary weak label), Ofcom UK 4G (benchmark validation).</a:t>
              </a:r>
            </a:p>
          </p:txBody>
        </p:sp>
      </p:grpSp>
      <p:grpSp>
        <p:nvGrpSpPr>
          <p:cNvPr name="Group 33" id="33"/>
          <p:cNvGrpSpPr/>
          <p:nvPr/>
        </p:nvGrpSpPr>
        <p:grpSpPr>
          <a:xfrm rot="0">
            <a:off x="11010900" y="1295400"/>
            <a:ext cx="3457575" cy="819150"/>
            <a:chOff x="0" y="0"/>
            <a:chExt cx="910637" cy="215743"/>
          </a:xfrm>
        </p:grpSpPr>
        <p:sp>
          <p:nvSpPr>
            <p:cNvPr name="Freeform 34" id="34"/>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5D9941"/>
            </a:solidFill>
          </p:spPr>
        </p:sp>
        <p:sp>
          <p:nvSpPr>
            <p:cNvPr name="TextBox 35" id="35"/>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36" id="36"/>
          <p:cNvGrpSpPr/>
          <p:nvPr/>
        </p:nvGrpSpPr>
        <p:grpSpPr>
          <a:xfrm rot="0">
            <a:off x="11068050" y="1343025"/>
            <a:ext cx="647700" cy="685800"/>
            <a:chOff x="0" y="0"/>
            <a:chExt cx="1062792" cy="1125309"/>
          </a:xfrm>
        </p:grpSpPr>
        <p:sp>
          <p:nvSpPr>
            <p:cNvPr name="Freeform 37" id="37"/>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38" id="38"/>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1B1A1A"/>
                  </a:solidFill>
                  <a:latin typeface="Helvetica World"/>
                  <a:ea typeface="Helvetica World"/>
                  <a:cs typeface="Helvetica World"/>
                  <a:sym typeface="Helvetica World"/>
                </a:rPr>
                <a:t>4</a:t>
              </a:r>
            </a:p>
          </p:txBody>
        </p:sp>
      </p:grpSp>
      <p:grpSp>
        <p:nvGrpSpPr>
          <p:cNvPr name="Group 39" id="39"/>
          <p:cNvGrpSpPr/>
          <p:nvPr/>
        </p:nvGrpSpPr>
        <p:grpSpPr>
          <a:xfrm rot="0">
            <a:off x="14601825" y="1295400"/>
            <a:ext cx="3457575" cy="3943350"/>
            <a:chOff x="0" y="0"/>
            <a:chExt cx="910637" cy="1038578"/>
          </a:xfrm>
        </p:grpSpPr>
        <p:sp>
          <p:nvSpPr>
            <p:cNvPr name="Freeform 40" id="40"/>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7F45A5"/>
              </a:solidFill>
              <a:prstDash val="solid"/>
              <a:round/>
            </a:ln>
          </p:spPr>
        </p:sp>
        <p:sp>
          <p:nvSpPr>
            <p:cNvPr name="TextBox 41" id="41"/>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Model Architecture: </a:t>
              </a:r>
              <a:r>
                <a:rPr b="0" sz="850">
                  <a:solidFill>
                    <a:srgbClr val="1E293B"/>
                  </a:solidFill>
                  <a:latin typeface="Arial"/>
                </a:rPr>
                <a:t>Gradient-Boosted Decision Trees (LightGBM/XGBoost) trained via domain-adversarial transfer learning across source-target geographic features.</a:t>
              </a:r>
            </a:p>
            <a:p>
              <a:pPr algn="l">
                <a:lnSpc>
                  <a:spcPct val="112000"/>
                </a:lnSpc>
                <a:spcAft>
                  <a:spcPts val="250"/>
                </a:spcAft>
              </a:pPr>
              <a:r>
                <a:rPr b="1" sz="850">
                  <a:solidFill>
                    <a:srgbClr val="1E3A8A"/>
                  </a:solidFill>
                  <a:latin typeface="Arial"/>
                </a:rPr>
                <a:t>• Spatial Feature Engineering: </a:t>
              </a:r>
              <a:r>
                <a:rPr b="0" sz="850">
                  <a:solidFill>
                    <a:srgbClr val="1E293B"/>
                  </a:solidFill>
                  <a:latin typeface="Arial"/>
                </a:rPr>
                <a:t>Topographic line-of-sight obstacle index (elevation profile between segment centroid and cell tower), forest clutter density, tower distance decay, and Ookla signal presence flags.</a:t>
              </a:r>
            </a:p>
            <a:p>
              <a:pPr algn="l">
                <a:lnSpc>
                  <a:spcPct val="112000"/>
                </a:lnSpc>
                <a:spcAft>
                  <a:spcPts val="250"/>
                </a:spcAft>
              </a:pPr>
              <a:r>
                <a:rPr b="1" sz="850">
                  <a:solidFill>
                    <a:srgbClr val="1E3A8A"/>
                  </a:solidFill>
                  <a:latin typeface="Arial"/>
                </a:rPr>
                <a:t>• Validation &amp; Domain Adaptation: </a:t>
              </a:r>
              <a:r>
                <a:rPr b="0" sz="850">
                  <a:solidFill>
                    <a:srgbClr val="1E293B"/>
                  </a:solidFill>
                  <a:latin typeface="Arial"/>
                </a:rPr>
                <a:t>Spatial cross-validation (GroupKFold by mountain block), out-of-distribution (OOD) distance metrics, and domain similarity checks.</a:t>
              </a:r>
            </a:p>
          </p:txBody>
        </p:sp>
      </p:grpSp>
      <p:grpSp>
        <p:nvGrpSpPr>
          <p:cNvPr name="Group 42" id="42"/>
          <p:cNvGrpSpPr/>
          <p:nvPr/>
        </p:nvGrpSpPr>
        <p:grpSpPr>
          <a:xfrm rot="0">
            <a:off x="14601825" y="1295400"/>
            <a:ext cx="3457575" cy="819150"/>
            <a:chOff x="0" y="0"/>
            <a:chExt cx="910637" cy="215743"/>
          </a:xfrm>
        </p:grpSpPr>
        <p:sp>
          <p:nvSpPr>
            <p:cNvPr name="Freeform 43" id="43"/>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7F45A5"/>
            </a:solidFill>
          </p:spPr>
        </p:sp>
        <p:sp>
          <p:nvSpPr>
            <p:cNvPr name="TextBox 44" id="44"/>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45" id="45"/>
          <p:cNvGrpSpPr/>
          <p:nvPr/>
        </p:nvGrpSpPr>
        <p:grpSpPr>
          <a:xfrm rot="0">
            <a:off x="14658975" y="1343025"/>
            <a:ext cx="647700" cy="685800"/>
            <a:chOff x="0" y="0"/>
            <a:chExt cx="1062792" cy="1125309"/>
          </a:xfrm>
        </p:grpSpPr>
        <p:sp>
          <p:nvSpPr>
            <p:cNvPr name="Freeform 46" id="46"/>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47" id="47"/>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1B1A1A"/>
                  </a:solidFill>
                  <a:latin typeface="Helvetica World"/>
                  <a:ea typeface="Helvetica World"/>
                  <a:cs typeface="Helvetica World"/>
                  <a:sym typeface="Helvetica World"/>
                </a:rPr>
                <a:t>5</a:t>
              </a:r>
            </a:p>
          </p:txBody>
        </p:sp>
      </p:grpSp>
      <p:grpSp>
        <p:nvGrpSpPr>
          <p:cNvPr name="Group 48" id="48"/>
          <p:cNvGrpSpPr/>
          <p:nvPr/>
        </p:nvGrpSpPr>
        <p:grpSpPr>
          <a:xfrm rot="0">
            <a:off x="238125" y="5324475"/>
            <a:ext cx="3457575" cy="3943350"/>
            <a:chOff x="0" y="0"/>
            <a:chExt cx="910637" cy="1038578"/>
          </a:xfrm>
        </p:grpSpPr>
        <p:sp>
          <p:nvSpPr>
            <p:cNvPr name="Freeform 49" id="49"/>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F37A05"/>
              </a:solidFill>
              <a:prstDash val="solid"/>
              <a:round/>
            </a:ln>
          </p:spPr>
        </p:sp>
        <p:sp>
          <p:nvSpPr>
            <p:cNvPr name="TextBox 50" id="50"/>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Cautious 3-Tier Classification: </a:t>
              </a:r>
              <a:r>
                <a:rPr b="0" sz="850">
                  <a:solidFill>
                    <a:srgbClr val="1E293B"/>
                  </a:solidFill>
                  <a:latin typeface="Arial"/>
                </a:rPr>
                <a:t>Outputs likely_covered (risk &lt;= 0.35 + evidence), uncertain (sparse/conflicting/high-OOD data), and predicted_gap (risk &gt;= 0.70 + evidence).</a:t>
              </a:r>
            </a:p>
            <a:p>
              <a:pPr algn="l">
                <a:lnSpc>
                  <a:spcPct val="112000"/>
                </a:lnSpc>
                <a:spcAft>
                  <a:spcPts val="250"/>
                </a:spcAft>
              </a:pPr>
              <a:r>
                <a:rPr b="1" sz="850">
                  <a:solidFill>
                    <a:srgbClr val="1E3A8A"/>
                  </a:solidFill>
                  <a:latin typeface="Arial"/>
                </a:rPr>
                <a:t>• Actionable Smartphone Warnings: </a:t>
              </a:r>
              <a:r>
                <a:rPr b="0" sz="850">
                  <a:solidFill>
                    <a:srgbClr val="1E293B"/>
                  </a:solidFill>
                  <a:latin typeface="Arial"/>
                </a:rPr>
                <a:t>Pre-hike alert: "Predicted gap in 600m: Download offline map, cache position, and check battery."</a:t>
              </a:r>
            </a:p>
            <a:p>
              <a:pPr algn="l">
                <a:lnSpc>
                  <a:spcPct val="112000"/>
                </a:lnSpc>
                <a:spcAft>
                  <a:spcPts val="250"/>
                </a:spcAft>
              </a:pPr>
              <a:r>
                <a:rPr b="1" sz="850">
                  <a:solidFill>
                    <a:srgbClr val="1E3A8A"/>
                  </a:solidFill>
                  <a:latin typeface="Arial"/>
                </a:rPr>
                <a:t>• Offline Trajectory Logging: </a:t>
              </a:r>
              <a:r>
                <a:rPr b="0" sz="850">
                  <a:solidFill>
                    <a:srgbClr val="1E293B"/>
                  </a:solidFill>
                  <a:latin typeface="Arial"/>
                </a:rPr>
                <a:t>Automatic background location queuing with auto-sync upon reconnection.</a:t>
              </a:r>
            </a:p>
            <a:p>
              <a:pPr algn="l">
                <a:lnSpc>
                  <a:spcPct val="112000"/>
                </a:lnSpc>
                <a:spcAft>
                  <a:spcPts val="250"/>
                </a:spcAft>
              </a:pPr>
              <a:r>
                <a:rPr b="1" sz="850">
                  <a:solidFill>
                    <a:srgbClr val="1E3A8A"/>
                  </a:solidFill>
                  <a:latin typeface="Arial"/>
                </a:rPr>
                <a:t>• Park Management Dashboard: </a:t>
              </a:r>
              <a:r>
                <a:rPr b="0" sz="850">
                  <a:solidFill>
                    <a:srgbClr val="1E293B"/>
                  </a:solidFill>
                  <a:latin typeface="Arial"/>
                </a:rPr>
                <a:t>Spatial gap heatmaps &amp; trail audit reports for SAR support.</a:t>
              </a:r>
            </a:p>
          </p:txBody>
        </p:sp>
      </p:grpSp>
      <p:grpSp>
        <p:nvGrpSpPr>
          <p:cNvPr name="Group 51" id="51"/>
          <p:cNvGrpSpPr/>
          <p:nvPr/>
        </p:nvGrpSpPr>
        <p:grpSpPr>
          <a:xfrm rot="0">
            <a:off x="238125" y="5324475"/>
            <a:ext cx="3457575" cy="819150"/>
            <a:chOff x="0" y="0"/>
            <a:chExt cx="910637" cy="215743"/>
          </a:xfrm>
        </p:grpSpPr>
        <p:sp>
          <p:nvSpPr>
            <p:cNvPr name="Freeform 52" id="52"/>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F37A05"/>
            </a:solidFill>
          </p:spPr>
        </p:sp>
        <p:sp>
          <p:nvSpPr>
            <p:cNvPr name="TextBox 53" id="53"/>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54" id="54"/>
          <p:cNvGrpSpPr/>
          <p:nvPr/>
        </p:nvGrpSpPr>
        <p:grpSpPr>
          <a:xfrm rot="0">
            <a:off x="295275" y="5376224"/>
            <a:ext cx="647700" cy="685800"/>
            <a:chOff x="0" y="0"/>
            <a:chExt cx="1062792" cy="1125309"/>
          </a:xfrm>
        </p:grpSpPr>
        <p:sp>
          <p:nvSpPr>
            <p:cNvPr name="Freeform 55" id="55"/>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56" id="56"/>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000000"/>
                  </a:solidFill>
                  <a:latin typeface="Helvetica World"/>
                  <a:ea typeface="Helvetica World"/>
                  <a:cs typeface="Helvetica World"/>
                  <a:sym typeface="Helvetica World"/>
                </a:rPr>
                <a:t>6</a:t>
              </a:r>
            </a:p>
          </p:txBody>
        </p:sp>
      </p:grpSp>
      <p:grpSp>
        <p:nvGrpSpPr>
          <p:cNvPr name="Group 57" id="57"/>
          <p:cNvGrpSpPr/>
          <p:nvPr/>
        </p:nvGrpSpPr>
        <p:grpSpPr>
          <a:xfrm rot="0">
            <a:off x="3829050" y="5324475"/>
            <a:ext cx="3457575" cy="3943350"/>
            <a:chOff x="0" y="0"/>
            <a:chExt cx="910637" cy="1038578"/>
          </a:xfrm>
        </p:grpSpPr>
        <p:sp>
          <p:nvSpPr>
            <p:cNvPr name="Freeform 58" id="58"/>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F9B214"/>
              </a:solidFill>
              <a:prstDash val="solid"/>
              <a:round/>
            </a:ln>
          </p:spPr>
        </p:sp>
        <p:sp>
          <p:nvSpPr>
            <p:cNvPr name="TextBox 59" id="59"/>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Data Pipeline: </a:t>
              </a:r>
              <a:r>
                <a:rPr b="0" sz="850">
                  <a:solidFill>
                    <a:srgbClr val="1E293B"/>
                  </a:solidFill>
                  <a:latin typeface="Arial"/>
                </a:rPr>
                <a:t>Python, PyGIS (GeoPandas, Shapely, Rasterio), Copernicus DEM &amp; ESA WorldCover spatial ingestion pipelines.</a:t>
              </a:r>
            </a:p>
            <a:p>
              <a:pPr algn="l">
                <a:lnSpc>
                  <a:spcPct val="112000"/>
                </a:lnSpc>
                <a:spcAft>
                  <a:spcPts val="250"/>
                </a:spcAft>
              </a:pPr>
              <a:r>
                <a:rPr b="1" sz="850">
                  <a:solidFill>
                    <a:srgbClr val="1E3A8A"/>
                  </a:solidFill>
                  <a:latin typeface="Arial"/>
                </a:rPr>
                <a:t>• GeoAI Modeling &amp; Registry: </a:t>
              </a:r>
              <a:r>
                <a:rPr b="0" sz="850">
                  <a:solidFill>
                    <a:srgbClr val="1E293B"/>
                  </a:solidFill>
                  <a:latin typeface="Arial"/>
                </a:rPr>
                <a:t>LightGBM, XGBoost, Scikit-Learn, MLflow model registry, Pydantic data contract validation.</a:t>
              </a:r>
            </a:p>
            <a:p>
              <a:pPr algn="l">
                <a:lnSpc>
                  <a:spcPct val="112000"/>
                </a:lnSpc>
                <a:spcAft>
                  <a:spcPts val="250"/>
                </a:spcAft>
              </a:pPr>
              <a:r>
                <a:rPr b="1" sz="850">
                  <a:solidFill>
                    <a:srgbClr val="1E3A8A"/>
                  </a:solidFill>
                  <a:latin typeface="Arial"/>
                </a:rPr>
                <a:t>• Inference &amp; App Delivery: </a:t>
              </a:r>
              <a:r>
                <a:rPr b="0" sz="850">
                  <a:solidFill>
                    <a:srgbClr val="1E293B"/>
                  </a:solidFill>
                  <a:latin typeface="Arial"/>
                </a:rPr>
                <a:t>FastAPI REST microservice (exposing versioned prediction contracts), Mobile Client (Flutter/Native) with local SpatiaLite/SQLite offline cache, background GPS tracker, and auto-sync queue.</a:t>
              </a:r>
            </a:p>
          </p:txBody>
        </p:sp>
      </p:grpSp>
      <p:grpSp>
        <p:nvGrpSpPr>
          <p:cNvPr name="Group 60" id="60"/>
          <p:cNvGrpSpPr/>
          <p:nvPr/>
        </p:nvGrpSpPr>
        <p:grpSpPr>
          <a:xfrm rot="0">
            <a:off x="3829050" y="5324475"/>
            <a:ext cx="3457575" cy="819150"/>
            <a:chOff x="0" y="0"/>
            <a:chExt cx="910637" cy="215743"/>
          </a:xfrm>
        </p:grpSpPr>
        <p:sp>
          <p:nvSpPr>
            <p:cNvPr name="Freeform 61" id="61"/>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F9B214"/>
            </a:solidFill>
          </p:spPr>
        </p:sp>
        <p:sp>
          <p:nvSpPr>
            <p:cNvPr name="TextBox 62" id="62"/>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63" id="63"/>
          <p:cNvGrpSpPr/>
          <p:nvPr/>
        </p:nvGrpSpPr>
        <p:grpSpPr>
          <a:xfrm rot="0">
            <a:off x="3886200" y="5376224"/>
            <a:ext cx="647700" cy="685800"/>
            <a:chOff x="0" y="0"/>
            <a:chExt cx="1062792" cy="1125309"/>
          </a:xfrm>
        </p:grpSpPr>
        <p:sp>
          <p:nvSpPr>
            <p:cNvPr name="Freeform 64" id="64"/>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65" id="65"/>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000000"/>
                  </a:solidFill>
                  <a:latin typeface="Helvetica World"/>
                  <a:ea typeface="Helvetica World"/>
                  <a:cs typeface="Helvetica World"/>
                  <a:sym typeface="Helvetica World"/>
                </a:rPr>
                <a:t>7</a:t>
              </a:r>
            </a:p>
          </p:txBody>
        </p:sp>
      </p:grpSp>
      <p:grpSp>
        <p:nvGrpSpPr>
          <p:cNvPr name="Group 66" id="66"/>
          <p:cNvGrpSpPr/>
          <p:nvPr/>
        </p:nvGrpSpPr>
        <p:grpSpPr>
          <a:xfrm rot="0">
            <a:off x="7419975" y="5324475"/>
            <a:ext cx="3457575" cy="3943350"/>
            <a:chOff x="0" y="0"/>
            <a:chExt cx="910637" cy="1038578"/>
          </a:xfrm>
        </p:grpSpPr>
        <p:sp>
          <p:nvSpPr>
            <p:cNvPr name="Freeform 67" id="67"/>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E54179"/>
              </a:solidFill>
              <a:prstDash val="solid"/>
              <a:round/>
            </a:ln>
          </p:spPr>
        </p:sp>
        <p:sp>
          <p:nvSpPr>
            <p:cNvPr name="TextBox 68" id="68"/>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Ethical &amp; Safety Safeguards: </a:t>
              </a:r>
              <a:r>
                <a:rPr b="0" sz="850">
                  <a:solidFill>
                    <a:srgbClr val="1E293B"/>
                  </a:solidFill>
                  <a:latin typeface="Arial"/>
                </a:rPr>
                <a:t>Cautious 3-tier terminology (likely_covered, uncertain, predicted_gap). NEVER claims "guaranteed zero coverage" to prevent reckless hiker behavior.</a:t>
              </a:r>
            </a:p>
            <a:p>
              <a:pPr algn="l">
                <a:lnSpc>
                  <a:spcPct val="112000"/>
                </a:lnSpc>
                <a:spcAft>
                  <a:spcPts val="250"/>
                </a:spcAft>
              </a:pPr>
              <a:r>
                <a:rPr b="1" sz="850">
                  <a:solidFill>
                    <a:srgbClr val="1E3A8A"/>
                  </a:solidFill>
                  <a:latin typeface="Arial"/>
                </a:rPr>
                <a:t>• Privacy &amp; Data Governance: </a:t>
              </a:r>
              <a:r>
                <a:rPr b="0" sz="850">
                  <a:solidFill>
                    <a:srgbClr val="1E293B"/>
                  </a:solidFill>
                  <a:latin typeface="Arial"/>
                </a:rPr>
                <a:t>On-device offline trajectory logging; location telemetry is anonymized and transmitted only upon explicit user consent during online sync.</a:t>
              </a:r>
            </a:p>
            <a:p>
              <a:pPr algn="l">
                <a:lnSpc>
                  <a:spcPct val="112000"/>
                </a:lnSpc>
                <a:spcAft>
                  <a:spcPts val="250"/>
                </a:spcAft>
              </a:pPr>
              <a:r>
                <a:rPr b="1" sz="850">
                  <a:solidFill>
                    <a:srgbClr val="1E3A8A"/>
                  </a:solidFill>
                  <a:latin typeface="Arial"/>
                </a:rPr>
                <a:t>• Sustainability &amp; Cost Feasibility: </a:t>
              </a:r>
              <a:r>
                <a:rPr b="0" sz="850">
                  <a:solidFill>
                    <a:srgbClr val="1E293B"/>
                  </a:solidFill>
                  <a:latin typeface="Arial"/>
                </a:rPr>
                <a:t>Phone-only solution requiring zero physical trail hardware or LoRa towers. Low-carbon compute footprint using optimized tree ML inference.</a:t>
              </a:r>
            </a:p>
          </p:txBody>
        </p:sp>
      </p:grpSp>
      <p:grpSp>
        <p:nvGrpSpPr>
          <p:cNvPr name="Group 69" id="69"/>
          <p:cNvGrpSpPr/>
          <p:nvPr/>
        </p:nvGrpSpPr>
        <p:grpSpPr>
          <a:xfrm rot="0">
            <a:off x="7419975" y="5324475"/>
            <a:ext cx="3457575" cy="819150"/>
            <a:chOff x="0" y="0"/>
            <a:chExt cx="910637" cy="215743"/>
          </a:xfrm>
        </p:grpSpPr>
        <p:sp>
          <p:nvSpPr>
            <p:cNvPr name="Freeform 70" id="70"/>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E54179"/>
            </a:solidFill>
          </p:spPr>
        </p:sp>
        <p:sp>
          <p:nvSpPr>
            <p:cNvPr name="TextBox 71" id="71"/>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72" id="72"/>
          <p:cNvGrpSpPr/>
          <p:nvPr/>
        </p:nvGrpSpPr>
        <p:grpSpPr>
          <a:xfrm rot="0">
            <a:off x="7467600" y="5386388"/>
            <a:ext cx="647700" cy="685800"/>
            <a:chOff x="0" y="0"/>
            <a:chExt cx="1062792" cy="1125309"/>
          </a:xfrm>
        </p:grpSpPr>
        <p:sp>
          <p:nvSpPr>
            <p:cNvPr name="Freeform 73" id="73"/>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74" id="74"/>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000000"/>
                  </a:solidFill>
                  <a:latin typeface="Helvetica World"/>
                  <a:ea typeface="Helvetica World"/>
                  <a:cs typeface="Helvetica World"/>
                  <a:sym typeface="Helvetica World"/>
                </a:rPr>
                <a:t>8</a:t>
              </a:r>
            </a:p>
          </p:txBody>
        </p:sp>
      </p:grpSp>
      <p:grpSp>
        <p:nvGrpSpPr>
          <p:cNvPr name="Group 75" id="75"/>
          <p:cNvGrpSpPr/>
          <p:nvPr/>
        </p:nvGrpSpPr>
        <p:grpSpPr>
          <a:xfrm rot="0">
            <a:off x="11010900" y="5324475"/>
            <a:ext cx="3457575" cy="3943350"/>
            <a:chOff x="0" y="0"/>
            <a:chExt cx="910637" cy="1038578"/>
          </a:xfrm>
        </p:grpSpPr>
        <p:sp>
          <p:nvSpPr>
            <p:cNvPr name="Freeform 76" id="76"/>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5CE1E6"/>
              </a:solidFill>
              <a:prstDash val="solid"/>
              <a:round/>
            </a:ln>
          </p:spPr>
        </p:sp>
        <p:sp>
          <p:nvSpPr>
            <p:cNvPr name="TextBox 77" id="77"/>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Hiker Safety Improvement: </a:t>
              </a:r>
              <a:r>
                <a:rPr b="0" sz="850">
                  <a:solidFill>
                    <a:srgbClr val="1E293B"/>
                  </a:solidFill>
                  <a:latin typeface="Arial"/>
                </a:rPr>
                <a:t>Prevents disorientation and emergency delays by prompting proactive map caching and family location sharing prior to gap entry.</a:t>
              </a:r>
            </a:p>
            <a:p>
              <a:pPr algn="l">
                <a:lnSpc>
                  <a:spcPct val="112000"/>
                </a:lnSpc>
                <a:spcAft>
                  <a:spcPts val="250"/>
                </a:spcAft>
              </a:pPr>
              <a:r>
                <a:rPr b="1" sz="850">
                  <a:solidFill>
                    <a:srgbClr val="1E3A8A"/>
                  </a:solidFill>
                  <a:latin typeface="Arial"/>
                </a:rPr>
                <a:t>• SAR Operational Efficiency: </a:t>
              </a:r>
              <a:r>
                <a:rPr b="0" sz="850">
                  <a:solidFill>
                    <a:srgbClr val="1E293B"/>
                  </a:solidFill>
                  <a:latin typeface="Arial"/>
                </a:rPr>
                <a:t>Narrows SAR search grid from hundreds of sq km down to the precise last-connected trail segment boundary, drastically cutting search time.</a:t>
              </a:r>
            </a:p>
            <a:p>
              <a:pPr algn="l">
                <a:lnSpc>
                  <a:spcPct val="112000"/>
                </a:lnSpc>
                <a:spcAft>
                  <a:spcPts val="250"/>
                </a:spcAft>
              </a:pPr>
              <a:r>
                <a:rPr b="1" sz="850">
                  <a:solidFill>
                    <a:srgbClr val="1E3A8A"/>
                  </a:solidFill>
                  <a:latin typeface="Arial"/>
                </a:rPr>
                <a:t>• Feasibility &amp; Scalability: </a:t>
              </a:r>
              <a:r>
                <a:rPr b="0" sz="850">
                  <a:solidFill>
                    <a:srgbClr val="1E293B"/>
                  </a:solidFill>
                  <a:latin typeface="Arial"/>
                </a:rPr>
                <a:t>Highly feasible (100% phone-only, zero hardware), globally scalable to any hiking trail network using public open geospatial datasets.</a:t>
              </a:r>
            </a:p>
          </p:txBody>
        </p:sp>
      </p:grpSp>
      <p:grpSp>
        <p:nvGrpSpPr>
          <p:cNvPr name="Group 78" id="78"/>
          <p:cNvGrpSpPr/>
          <p:nvPr/>
        </p:nvGrpSpPr>
        <p:grpSpPr>
          <a:xfrm rot="0">
            <a:off x="11010900" y="5324475"/>
            <a:ext cx="3457575" cy="819150"/>
            <a:chOff x="0" y="0"/>
            <a:chExt cx="910637" cy="215743"/>
          </a:xfrm>
        </p:grpSpPr>
        <p:sp>
          <p:nvSpPr>
            <p:cNvPr name="Freeform 79" id="79"/>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5CE1E6"/>
            </a:solidFill>
          </p:spPr>
        </p:sp>
        <p:sp>
          <p:nvSpPr>
            <p:cNvPr name="TextBox 80" id="80"/>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81" id="81"/>
          <p:cNvGrpSpPr/>
          <p:nvPr/>
        </p:nvGrpSpPr>
        <p:grpSpPr>
          <a:xfrm rot="0">
            <a:off x="11068050" y="5386388"/>
            <a:ext cx="647700" cy="685800"/>
            <a:chOff x="0" y="0"/>
            <a:chExt cx="1062792" cy="1125309"/>
          </a:xfrm>
        </p:grpSpPr>
        <p:sp>
          <p:nvSpPr>
            <p:cNvPr name="Freeform 82" id="82"/>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83" id="83"/>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000000"/>
                  </a:solidFill>
                  <a:latin typeface="Helvetica World"/>
                  <a:ea typeface="Helvetica World"/>
                  <a:cs typeface="Helvetica World"/>
                  <a:sym typeface="Helvetica World"/>
                </a:rPr>
                <a:t>9</a:t>
              </a:r>
            </a:p>
          </p:txBody>
        </p:sp>
      </p:grpSp>
      <p:grpSp>
        <p:nvGrpSpPr>
          <p:cNvPr name="Group 84" id="84"/>
          <p:cNvGrpSpPr/>
          <p:nvPr/>
        </p:nvGrpSpPr>
        <p:grpSpPr>
          <a:xfrm rot="0">
            <a:off x="14601825" y="5324475"/>
            <a:ext cx="3457575" cy="3943350"/>
            <a:chOff x="0" y="0"/>
            <a:chExt cx="910637" cy="1038578"/>
          </a:xfrm>
        </p:grpSpPr>
        <p:sp>
          <p:nvSpPr>
            <p:cNvPr name="Freeform 85" id="85"/>
            <p:cNvSpPr/>
            <p:nvPr/>
          </p:nvSpPr>
          <p:spPr>
            <a:xfrm flipH="false" flipV="false" rot="0">
              <a:off x="0" y="0"/>
              <a:ext cx="910637" cy="1038578"/>
            </a:xfrm>
            <a:custGeom>
              <a:avLst/>
              <a:gdLst/>
              <a:ahLst/>
              <a:cxnLst/>
              <a:rect r="r" b="b" t="t" l="l"/>
              <a:pathLst>
                <a:path h="1038578" w="910637">
                  <a:moveTo>
                    <a:pt x="114195" y="0"/>
                  </a:moveTo>
                  <a:lnTo>
                    <a:pt x="796442" y="0"/>
                  </a:lnTo>
                  <a:cubicBezTo>
                    <a:pt x="859510" y="0"/>
                    <a:pt x="910637" y="51127"/>
                    <a:pt x="910637" y="114195"/>
                  </a:cubicBezTo>
                  <a:lnTo>
                    <a:pt x="910637" y="924383"/>
                  </a:lnTo>
                  <a:cubicBezTo>
                    <a:pt x="910637" y="987451"/>
                    <a:pt x="859510" y="1038578"/>
                    <a:pt x="796442" y="1038578"/>
                  </a:cubicBezTo>
                  <a:lnTo>
                    <a:pt x="114195" y="1038578"/>
                  </a:lnTo>
                  <a:cubicBezTo>
                    <a:pt x="51127" y="1038578"/>
                    <a:pt x="0" y="987451"/>
                    <a:pt x="0" y="924383"/>
                  </a:cubicBezTo>
                  <a:lnTo>
                    <a:pt x="0" y="114195"/>
                  </a:lnTo>
                  <a:cubicBezTo>
                    <a:pt x="0" y="51127"/>
                    <a:pt x="51127" y="0"/>
                    <a:pt x="114195" y="0"/>
                  </a:cubicBezTo>
                  <a:close/>
                </a:path>
              </a:pathLst>
            </a:custGeom>
            <a:ln w="28575" cap="rnd">
              <a:solidFill>
                <a:srgbClr val="FF5757"/>
              </a:solidFill>
              <a:prstDash val="solid"/>
              <a:round/>
            </a:ln>
          </p:spPr>
        </p:sp>
        <p:sp>
          <p:nvSpPr>
            <p:cNvPr name="TextBox 86" id="86"/>
            <p:cNvSpPr txBox="true"/>
            <p:nvPr/>
          </p:nvSpPr>
          <p:spPr>
            <a:xfrm>
              <a:off x="0" y="220000"/>
              <a:ext cx="910637"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Phase 1: MVP Baseline (M1-M3): </a:t>
              </a:r>
              <a:r>
                <a:rPr b="0" sz="850">
                  <a:solidFill>
                    <a:srgbClr val="1E293B"/>
                  </a:solidFill>
                  <a:latin typeface="Arial"/>
                </a:rPr>
                <a:t>Open dataset pipeline, cross-country transfer model training, evaluation on 4 Peninsular Malaysia benchmark routes (Gunung Tahan, Bukit Larut, Kledang, Bukit Kerinchi), mobile offline alert client.</a:t>
              </a:r>
            </a:p>
            <a:p>
              <a:pPr algn="l">
                <a:lnSpc>
                  <a:spcPct val="112000"/>
                </a:lnSpc>
                <a:spcAft>
                  <a:spcPts val="250"/>
                </a:spcAft>
              </a:pPr>
              <a:r>
                <a:rPr b="1" sz="850">
                  <a:solidFill>
                    <a:srgbClr val="1E3A8A"/>
                  </a:solidFill>
                  <a:latin typeface="Arial"/>
                </a:rPr>
                <a:t>• Phase 2: Field Calibration &amp; Scaling (M4-M6): </a:t>
              </a:r>
              <a:r>
                <a:rPr b="0" sz="850">
                  <a:solidFill>
                    <a:srgbClr val="1E293B"/>
                  </a:solidFill>
                  <a:latin typeface="Arial"/>
                </a:rPr>
                <a:t>Hiker crowdsourced field verification, MNO/authority data sharing (MCMC/JENDELA integration), expanding coverage to 50+ national park trails across Malaysia.</a:t>
              </a:r>
            </a:p>
            <a:p>
              <a:pPr algn="l">
                <a:lnSpc>
                  <a:spcPct val="112000"/>
                </a:lnSpc>
                <a:spcAft>
                  <a:spcPts val="250"/>
                </a:spcAft>
              </a:pPr>
              <a:r>
                <a:rPr b="1" sz="850">
                  <a:solidFill>
                    <a:srgbClr val="1E3A8A"/>
                  </a:solidFill>
                  <a:latin typeface="Arial"/>
                </a:rPr>
                <a:t>• Phase 3: Operational SAR &amp; Global Rollout (M7-M12): </a:t>
              </a:r>
              <a:r>
                <a:rPr b="0" sz="850">
                  <a:solidFill>
                    <a:srgbClr val="1E293B"/>
                  </a:solidFill>
                  <a:latin typeface="Arial"/>
                </a:rPr>
                <a:t>Integration with national park SAR management platforms, expanding to international hiking corridors, predictive SAR risk mapping.</a:t>
              </a:r>
            </a:p>
          </p:txBody>
        </p:sp>
      </p:grpSp>
      <p:grpSp>
        <p:nvGrpSpPr>
          <p:cNvPr name="Group 87" id="87"/>
          <p:cNvGrpSpPr/>
          <p:nvPr/>
        </p:nvGrpSpPr>
        <p:grpSpPr>
          <a:xfrm rot="0">
            <a:off x="14601825" y="5324475"/>
            <a:ext cx="3457575" cy="819150"/>
            <a:chOff x="0" y="0"/>
            <a:chExt cx="910637" cy="215743"/>
          </a:xfrm>
        </p:grpSpPr>
        <p:sp>
          <p:nvSpPr>
            <p:cNvPr name="Freeform 88" id="88"/>
            <p:cNvSpPr/>
            <p:nvPr/>
          </p:nvSpPr>
          <p:spPr>
            <a:xfrm flipH="false" flipV="false" rot="0">
              <a:off x="0" y="0"/>
              <a:ext cx="910637" cy="215743"/>
            </a:xfrm>
            <a:custGeom>
              <a:avLst/>
              <a:gdLst/>
              <a:ahLst/>
              <a:cxnLst/>
              <a:rect r="r" b="b" t="t" l="l"/>
              <a:pathLst>
                <a:path h="215743" w="910637">
                  <a:moveTo>
                    <a:pt x="87326" y="0"/>
                  </a:moveTo>
                  <a:lnTo>
                    <a:pt x="823311" y="0"/>
                  </a:lnTo>
                  <a:cubicBezTo>
                    <a:pt x="871540" y="0"/>
                    <a:pt x="910637" y="39097"/>
                    <a:pt x="910637" y="87326"/>
                  </a:cubicBezTo>
                  <a:lnTo>
                    <a:pt x="910637" y="128418"/>
                  </a:lnTo>
                  <a:cubicBezTo>
                    <a:pt x="910637" y="176646"/>
                    <a:pt x="871540" y="215743"/>
                    <a:pt x="823311" y="215743"/>
                  </a:cubicBezTo>
                  <a:lnTo>
                    <a:pt x="87326" y="215743"/>
                  </a:lnTo>
                  <a:cubicBezTo>
                    <a:pt x="64165" y="215743"/>
                    <a:pt x="41954" y="206543"/>
                    <a:pt x="25577" y="190166"/>
                  </a:cubicBezTo>
                  <a:cubicBezTo>
                    <a:pt x="9200" y="173789"/>
                    <a:pt x="0" y="151578"/>
                    <a:pt x="0" y="128418"/>
                  </a:cubicBezTo>
                  <a:lnTo>
                    <a:pt x="0" y="87326"/>
                  </a:lnTo>
                  <a:cubicBezTo>
                    <a:pt x="0" y="39097"/>
                    <a:pt x="39097" y="0"/>
                    <a:pt x="87326" y="0"/>
                  </a:cubicBezTo>
                  <a:close/>
                </a:path>
              </a:pathLst>
            </a:custGeom>
            <a:solidFill>
              <a:srgbClr val="FF5757"/>
            </a:solidFill>
          </p:spPr>
        </p:sp>
        <p:sp>
          <p:nvSpPr>
            <p:cNvPr name="TextBox 89" id="89"/>
            <p:cNvSpPr txBox="true"/>
            <p:nvPr/>
          </p:nvSpPr>
          <p:spPr>
            <a:xfrm>
              <a:off x="0" y="-47625"/>
              <a:ext cx="910637" cy="263368"/>
            </a:xfrm>
            <a:prstGeom prst="rect">
              <a:avLst/>
            </a:prstGeom>
          </p:spPr>
          <p:txBody>
            <a:bodyPr anchor="ctr" rtlCol="false" tIns="50800" lIns="50800" bIns="50800" rIns="50800"/>
            <a:lstStyle/>
            <a:p>
              <a:pPr algn="ctr">
                <a:lnSpc>
                  <a:spcPts val="2660"/>
                </a:lnSpc>
              </a:pPr>
            </a:p>
          </p:txBody>
        </p:sp>
      </p:grpSp>
      <p:grpSp>
        <p:nvGrpSpPr>
          <p:cNvPr name="Group 90" id="90"/>
          <p:cNvGrpSpPr/>
          <p:nvPr/>
        </p:nvGrpSpPr>
        <p:grpSpPr>
          <a:xfrm rot="0">
            <a:off x="14658975" y="5386388"/>
            <a:ext cx="647700" cy="685800"/>
            <a:chOff x="0" y="0"/>
            <a:chExt cx="1062792" cy="1125309"/>
          </a:xfrm>
        </p:grpSpPr>
        <p:sp>
          <p:nvSpPr>
            <p:cNvPr name="Freeform 91" id="91"/>
            <p:cNvSpPr/>
            <p:nvPr/>
          </p:nvSpPr>
          <p:spPr>
            <a:xfrm flipH="false" flipV="false" rot="0">
              <a:off x="0" y="0"/>
              <a:ext cx="1062792" cy="1125309"/>
            </a:xfrm>
            <a:custGeom>
              <a:avLst/>
              <a:gdLst/>
              <a:ahLst/>
              <a:cxnLst/>
              <a:rect r="r" b="b" t="t" l="l"/>
              <a:pathLst>
                <a:path h="1125309" w="1062792">
                  <a:moveTo>
                    <a:pt x="531396" y="0"/>
                  </a:moveTo>
                  <a:cubicBezTo>
                    <a:pt x="237914" y="0"/>
                    <a:pt x="0" y="251909"/>
                    <a:pt x="0" y="562654"/>
                  </a:cubicBezTo>
                  <a:cubicBezTo>
                    <a:pt x="0" y="873400"/>
                    <a:pt x="237914" y="1125309"/>
                    <a:pt x="531396" y="1125309"/>
                  </a:cubicBezTo>
                  <a:cubicBezTo>
                    <a:pt x="824878" y="1125309"/>
                    <a:pt x="1062792" y="873400"/>
                    <a:pt x="1062792" y="562654"/>
                  </a:cubicBezTo>
                  <a:cubicBezTo>
                    <a:pt x="1062792" y="251909"/>
                    <a:pt x="824878" y="0"/>
                    <a:pt x="531396" y="0"/>
                  </a:cubicBezTo>
                  <a:close/>
                </a:path>
              </a:pathLst>
            </a:custGeom>
            <a:solidFill>
              <a:srgbClr val="FFFFFF"/>
            </a:solidFill>
          </p:spPr>
        </p:sp>
        <p:sp>
          <p:nvSpPr>
            <p:cNvPr name="TextBox 92" id="92"/>
            <p:cNvSpPr txBox="true"/>
            <p:nvPr/>
          </p:nvSpPr>
          <p:spPr>
            <a:xfrm>
              <a:off x="99637" y="57873"/>
              <a:ext cx="863518" cy="961938"/>
            </a:xfrm>
            <a:prstGeom prst="rect">
              <a:avLst/>
            </a:prstGeom>
          </p:spPr>
          <p:txBody>
            <a:bodyPr anchor="ctr" rtlCol="false" tIns="50800" lIns="50800" bIns="50800" rIns="50800"/>
            <a:lstStyle/>
            <a:p>
              <a:pPr algn="ctr" marL="0" indent="0" lvl="0">
                <a:lnSpc>
                  <a:spcPts val="2659"/>
                </a:lnSpc>
                <a:spcBef>
                  <a:spcPct val="0"/>
                </a:spcBef>
              </a:pPr>
              <a:r>
                <a:rPr lang="en-US" sz="1899" strike="noStrike" u="none">
                  <a:solidFill>
                    <a:srgbClr val="000000"/>
                  </a:solidFill>
                  <a:latin typeface="Helvetica World"/>
                  <a:ea typeface="Helvetica World"/>
                  <a:cs typeface="Helvetica World"/>
                  <a:sym typeface="Helvetica World"/>
                </a:rPr>
                <a:t>10</a:t>
              </a:r>
            </a:p>
          </p:txBody>
        </p:sp>
      </p:grpSp>
      <p:grpSp>
        <p:nvGrpSpPr>
          <p:cNvPr name="Group 93" id="93"/>
          <p:cNvGrpSpPr/>
          <p:nvPr/>
        </p:nvGrpSpPr>
        <p:grpSpPr>
          <a:xfrm rot="-5400000">
            <a:off x="1330121" y="8234151"/>
            <a:ext cx="861864" cy="3081611"/>
            <a:chOff x="0" y="0"/>
            <a:chExt cx="520700" cy="1861773"/>
          </a:xfrm>
        </p:grpSpPr>
        <p:sp>
          <p:nvSpPr>
            <p:cNvPr name="Freeform 94" id="94"/>
            <p:cNvSpPr/>
            <p:nvPr/>
          </p:nvSpPr>
          <p:spPr>
            <a:xfrm flipH="false" flipV="false" rot="0">
              <a:off x="0" y="0"/>
              <a:ext cx="520700" cy="1832714"/>
            </a:xfrm>
            <a:custGeom>
              <a:avLst/>
              <a:gdLst/>
              <a:ahLst/>
              <a:cxnLst/>
              <a:rect r="r" b="b" t="t" l="l"/>
              <a:pathLst>
                <a:path h="1832714" w="520700">
                  <a:moveTo>
                    <a:pt x="0" y="80564"/>
                  </a:moveTo>
                  <a:lnTo>
                    <a:pt x="0" y="1565309"/>
                  </a:lnTo>
                  <a:cubicBezTo>
                    <a:pt x="0" y="1616342"/>
                    <a:pt x="22732" y="1664723"/>
                    <a:pt x="62015" y="1697300"/>
                  </a:cubicBezTo>
                  <a:lnTo>
                    <a:pt x="198335" y="1810346"/>
                  </a:lnTo>
                  <a:cubicBezTo>
                    <a:pt x="234300" y="1840170"/>
                    <a:pt x="286400" y="1840170"/>
                    <a:pt x="322365" y="1810346"/>
                  </a:cubicBezTo>
                  <a:lnTo>
                    <a:pt x="458685" y="1697300"/>
                  </a:lnTo>
                  <a:cubicBezTo>
                    <a:pt x="497968" y="1664723"/>
                    <a:pt x="520700" y="1616342"/>
                    <a:pt x="520700" y="1565309"/>
                  </a:cubicBezTo>
                  <a:lnTo>
                    <a:pt x="520700" y="80564"/>
                  </a:lnTo>
                  <a:cubicBezTo>
                    <a:pt x="520700" y="59197"/>
                    <a:pt x="512212" y="38705"/>
                    <a:pt x="497103" y="23597"/>
                  </a:cubicBezTo>
                  <a:cubicBezTo>
                    <a:pt x="481995" y="8488"/>
                    <a:pt x="461503" y="0"/>
                    <a:pt x="440136" y="0"/>
                  </a:cubicBezTo>
                  <a:lnTo>
                    <a:pt x="80564" y="0"/>
                  </a:lnTo>
                  <a:cubicBezTo>
                    <a:pt x="59197" y="0"/>
                    <a:pt x="38705" y="8488"/>
                    <a:pt x="23597" y="23597"/>
                  </a:cubicBezTo>
                  <a:cubicBezTo>
                    <a:pt x="8488" y="38705"/>
                    <a:pt x="0" y="59197"/>
                    <a:pt x="0" y="80564"/>
                  </a:cubicBezTo>
                  <a:close/>
                </a:path>
              </a:pathLst>
            </a:custGeom>
            <a:solidFill>
              <a:srgbClr val="2B7ECD"/>
            </a:solidFill>
            <a:ln w="38100" cap="sq">
              <a:solidFill>
                <a:srgbClr val="2B7ECD"/>
              </a:solidFill>
              <a:prstDash val="solid"/>
              <a:miter/>
            </a:ln>
          </p:spPr>
        </p:sp>
        <p:sp>
          <p:nvSpPr>
            <p:cNvPr name="TextBox 95" id="95"/>
            <p:cNvSpPr txBox="true"/>
            <p:nvPr/>
          </p:nvSpPr>
          <p:spPr>
            <a:xfrm>
              <a:off x="0" y="-31750"/>
              <a:ext cx="520700" cy="1664923"/>
            </a:xfrm>
            <a:prstGeom prst="rect">
              <a:avLst/>
            </a:prstGeom>
          </p:spPr>
          <p:txBody>
            <a:bodyPr anchor="ctr" rtlCol="false" tIns="50800" lIns="50800" bIns="50800" rIns="50800"/>
            <a:lstStyle/>
            <a:p>
              <a:pPr algn="ctr">
                <a:lnSpc>
                  <a:spcPts val="2800"/>
                </a:lnSpc>
              </a:pPr>
            </a:p>
          </p:txBody>
        </p:sp>
      </p:grpSp>
      <p:grpSp>
        <p:nvGrpSpPr>
          <p:cNvPr name="Group 96" id="96"/>
          <p:cNvGrpSpPr/>
          <p:nvPr/>
        </p:nvGrpSpPr>
        <p:grpSpPr>
          <a:xfrm rot="0">
            <a:off x="289806" y="9420965"/>
            <a:ext cx="663912" cy="713436"/>
            <a:chOff x="0" y="0"/>
            <a:chExt cx="1073496" cy="1153574"/>
          </a:xfrm>
        </p:grpSpPr>
        <p:sp>
          <p:nvSpPr>
            <p:cNvPr name="Freeform 97" id="97"/>
            <p:cNvSpPr/>
            <p:nvPr/>
          </p:nvSpPr>
          <p:spPr>
            <a:xfrm flipH="false" flipV="false" rot="0">
              <a:off x="0" y="0"/>
              <a:ext cx="1073496" cy="1153574"/>
            </a:xfrm>
            <a:custGeom>
              <a:avLst/>
              <a:gdLst/>
              <a:ahLst/>
              <a:cxnLst/>
              <a:rect r="r" b="b" t="t" l="l"/>
              <a:pathLst>
                <a:path h="1153574" w="1073496">
                  <a:moveTo>
                    <a:pt x="536748" y="0"/>
                  </a:moveTo>
                  <a:cubicBezTo>
                    <a:pt x="240310" y="0"/>
                    <a:pt x="0" y="258236"/>
                    <a:pt x="0" y="576787"/>
                  </a:cubicBezTo>
                  <a:cubicBezTo>
                    <a:pt x="0" y="895337"/>
                    <a:pt x="240310" y="1153574"/>
                    <a:pt x="536748" y="1153574"/>
                  </a:cubicBezTo>
                  <a:cubicBezTo>
                    <a:pt x="833186" y="1153574"/>
                    <a:pt x="1073496" y="895337"/>
                    <a:pt x="1073496" y="576787"/>
                  </a:cubicBezTo>
                  <a:cubicBezTo>
                    <a:pt x="1073496" y="258236"/>
                    <a:pt x="833186" y="0"/>
                    <a:pt x="536748" y="0"/>
                  </a:cubicBezTo>
                  <a:close/>
                </a:path>
              </a:pathLst>
            </a:custGeom>
            <a:solidFill>
              <a:srgbClr val="FFFFFF"/>
            </a:solidFill>
            <a:ln cap="sq">
              <a:noFill/>
              <a:prstDash val="solid"/>
              <a:miter/>
            </a:ln>
          </p:spPr>
        </p:sp>
        <p:sp>
          <p:nvSpPr>
            <p:cNvPr name="TextBox 98" id="98"/>
            <p:cNvSpPr txBox="true"/>
            <p:nvPr/>
          </p:nvSpPr>
          <p:spPr>
            <a:xfrm>
              <a:off x="100640" y="50998"/>
              <a:ext cx="872215" cy="994429"/>
            </a:xfrm>
            <a:prstGeom prst="rect">
              <a:avLst/>
            </a:prstGeom>
          </p:spPr>
          <p:txBody>
            <a:bodyPr anchor="ctr" rtlCol="false" tIns="50800" lIns="50800" bIns="50800" rIns="50800"/>
            <a:lstStyle/>
            <a:p>
              <a:pPr algn="ctr">
                <a:lnSpc>
                  <a:spcPts val="2800"/>
                </a:lnSpc>
              </a:pPr>
              <a:r>
                <a:rPr lang="en-US" sz="2000">
                  <a:solidFill>
                    <a:srgbClr val="000000"/>
                  </a:solidFill>
                  <a:latin typeface="Helvetica World"/>
                  <a:ea typeface="Helvetica World"/>
                  <a:cs typeface="Helvetica World"/>
                  <a:sym typeface="Helvetica World"/>
                </a:rPr>
                <a:t>11</a:t>
              </a:r>
            </a:p>
          </p:txBody>
        </p:sp>
      </p:grpSp>
      <p:grpSp>
        <p:nvGrpSpPr>
          <p:cNvPr name="Group 99" id="99"/>
          <p:cNvGrpSpPr/>
          <p:nvPr/>
        </p:nvGrpSpPr>
        <p:grpSpPr>
          <a:xfrm rot="0">
            <a:off x="13171109" y="81391"/>
            <a:ext cx="4888291" cy="1116262"/>
            <a:chOff x="0" y="0"/>
            <a:chExt cx="1287451" cy="293995"/>
          </a:xfrm>
        </p:grpSpPr>
        <p:sp>
          <p:nvSpPr>
            <p:cNvPr name="Freeform 100" id="100"/>
            <p:cNvSpPr/>
            <p:nvPr/>
          </p:nvSpPr>
          <p:spPr>
            <a:xfrm flipH="false" flipV="false" rot="0">
              <a:off x="0" y="0"/>
              <a:ext cx="1287451" cy="293995"/>
            </a:xfrm>
            <a:custGeom>
              <a:avLst/>
              <a:gdLst/>
              <a:ahLst/>
              <a:cxnLst/>
              <a:rect r="r" b="b" t="t" l="l"/>
              <a:pathLst>
                <a:path h="293995" w="1287451">
                  <a:moveTo>
                    <a:pt x="36427" y="0"/>
                  </a:moveTo>
                  <a:lnTo>
                    <a:pt x="1251025" y="0"/>
                  </a:lnTo>
                  <a:cubicBezTo>
                    <a:pt x="1260685" y="0"/>
                    <a:pt x="1269951" y="3838"/>
                    <a:pt x="1276782" y="10669"/>
                  </a:cubicBezTo>
                  <a:cubicBezTo>
                    <a:pt x="1283613" y="17500"/>
                    <a:pt x="1287451" y="26766"/>
                    <a:pt x="1287451" y="36427"/>
                  </a:cubicBezTo>
                  <a:lnTo>
                    <a:pt x="1287451" y="257568"/>
                  </a:lnTo>
                  <a:cubicBezTo>
                    <a:pt x="1287451" y="267229"/>
                    <a:pt x="1283613" y="276494"/>
                    <a:pt x="1276782" y="283326"/>
                  </a:cubicBezTo>
                  <a:cubicBezTo>
                    <a:pt x="1269951" y="290157"/>
                    <a:pt x="1260685" y="293995"/>
                    <a:pt x="1251025" y="293995"/>
                  </a:cubicBezTo>
                  <a:lnTo>
                    <a:pt x="36427" y="293995"/>
                  </a:lnTo>
                  <a:cubicBezTo>
                    <a:pt x="26766" y="293995"/>
                    <a:pt x="17500" y="290157"/>
                    <a:pt x="10669" y="283326"/>
                  </a:cubicBezTo>
                  <a:cubicBezTo>
                    <a:pt x="3838" y="276494"/>
                    <a:pt x="0" y="267229"/>
                    <a:pt x="0" y="257568"/>
                  </a:cubicBezTo>
                  <a:lnTo>
                    <a:pt x="0" y="36427"/>
                  </a:lnTo>
                  <a:cubicBezTo>
                    <a:pt x="0" y="26766"/>
                    <a:pt x="3838" y="17500"/>
                    <a:pt x="10669" y="10669"/>
                  </a:cubicBezTo>
                  <a:cubicBezTo>
                    <a:pt x="17500" y="3838"/>
                    <a:pt x="26766" y="0"/>
                    <a:pt x="36427" y="0"/>
                  </a:cubicBezTo>
                  <a:close/>
                </a:path>
              </a:pathLst>
            </a:custGeom>
            <a:ln w="19050" cap="rnd">
              <a:solidFill>
                <a:srgbClr val="B4B4B4"/>
              </a:solidFill>
              <a:prstDash val="solid"/>
              <a:round/>
            </a:ln>
          </p:spPr>
        </p:sp>
        <p:sp>
          <p:nvSpPr>
            <p:cNvPr name="TextBox 101" id="101"/>
            <p:cNvSpPr txBox="true"/>
            <p:nvPr/>
          </p:nvSpPr>
          <p:spPr>
            <a:xfrm>
              <a:off x="0" y="-76200"/>
              <a:ext cx="1287451" cy="370195"/>
            </a:xfrm>
            <a:prstGeom prst="rect">
              <a:avLst/>
            </a:prstGeom>
          </p:spPr>
          <p:txBody>
            <a:bodyPr anchor="ctr" rtlCol="false" tIns="50800" lIns="50800" bIns="50800" rIns="50800"/>
            <a:lstStyle/>
            <a:p>
              <a:pPr algn="ctr">
                <a:lnSpc>
                  <a:spcPts val="2800"/>
                </a:lnSpc>
              </a:pPr>
            </a:p>
          </p:txBody>
        </p:sp>
      </p:grpSp>
      <p:grpSp>
        <p:nvGrpSpPr>
          <p:cNvPr name="Group 102" id="102"/>
          <p:cNvGrpSpPr/>
          <p:nvPr/>
        </p:nvGrpSpPr>
        <p:grpSpPr>
          <a:xfrm rot="0">
            <a:off x="13171109" y="92572"/>
            <a:ext cx="4888291" cy="344511"/>
            <a:chOff x="0" y="0"/>
            <a:chExt cx="1287451" cy="90735"/>
          </a:xfrm>
        </p:grpSpPr>
        <p:sp>
          <p:nvSpPr>
            <p:cNvPr name="Freeform 103" id="103"/>
            <p:cNvSpPr/>
            <p:nvPr/>
          </p:nvSpPr>
          <p:spPr>
            <a:xfrm flipH="false" flipV="false" rot="0">
              <a:off x="0" y="0"/>
              <a:ext cx="1287451" cy="90735"/>
            </a:xfrm>
            <a:custGeom>
              <a:avLst/>
              <a:gdLst/>
              <a:ahLst/>
              <a:cxnLst/>
              <a:rect r="r" b="b" t="t" l="l"/>
              <a:pathLst>
                <a:path h="90735" w="1287451">
                  <a:moveTo>
                    <a:pt x="26924" y="0"/>
                  </a:moveTo>
                  <a:lnTo>
                    <a:pt x="1260527" y="0"/>
                  </a:lnTo>
                  <a:cubicBezTo>
                    <a:pt x="1275397" y="0"/>
                    <a:pt x="1287451" y="12054"/>
                    <a:pt x="1287451" y="26924"/>
                  </a:cubicBezTo>
                  <a:lnTo>
                    <a:pt x="1287451" y="63811"/>
                  </a:lnTo>
                  <a:cubicBezTo>
                    <a:pt x="1287451" y="70952"/>
                    <a:pt x="1284615" y="77800"/>
                    <a:pt x="1279565" y="82849"/>
                  </a:cubicBezTo>
                  <a:cubicBezTo>
                    <a:pt x="1274516" y="87899"/>
                    <a:pt x="1267668" y="90735"/>
                    <a:pt x="1260527" y="90735"/>
                  </a:cubicBezTo>
                  <a:lnTo>
                    <a:pt x="26924" y="90735"/>
                  </a:lnTo>
                  <a:cubicBezTo>
                    <a:pt x="12054" y="90735"/>
                    <a:pt x="0" y="78681"/>
                    <a:pt x="0" y="63811"/>
                  </a:cubicBezTo>
                  <a:lnTo>
                    <a:pt x="0" y="26924"/>
                  </a:lnTo>
                  <a:cubicBezTo>
                    <a:pt x="0" y="12054"/>
                    <a:pt x="12054" y="0"/>
                    <a:pt x="26924" y="0"/>
                  </a:cubicBezTo>
                  <a:close/>
                </a:path>
              </a:pathLst>
            </a:custGeom>
            <a:solidFill>
              <a:srgbClr val="737373"/>
            </a:solidFill>
          </p:spPr>
        </p:sp>
        <p:sp>
          <p:nvSpPr>
            <p:cNvPr name="TextBox 104" id="104"/>
            <p:cNvSpPr txBox="true"/>
            <p:nvPr/>
          </p:nvSpPr>
          <p:spPr>
            <a:xfrm>
              <a:off x="0" y="-76200"/>
              <a:ext cx="1287451" cy="166935"/>
            </a:xfrm>
            <a:prstGeom prst="rect">
              <a:avLst/>
            </a:prstGeom>
          </p:spPr>
          <p:txBody>
            <a:bodyPr anchor="ctr" rtlCol="false" tIns="50800" lIns="50800" bIns="50800" rIns="50800"/>
            <a:lstStyle/>
            <a:p>
              <a:pPr algn="ctr">
                <a:lnSpc>
                  <a:spcPts val="2800"/>
                </a:lnSpc>
              </a:pPr>
            </a:p>
          </p:txBody>
        </p:sp>
      </p:grpSp>
      <p:sp>
        <p:nvSpPr>
          <p:cNvPr name="TextBox 105" id="105"/>
          <p:cNvSpPr txBox="true"/>
          <p:nvPr/>
        </p:nvSpPr>
        <p:spPr>
          <a:xfrm rot="0">
            <a:off x="750282" y="9600637"/>
            <a:ext cx="2433261" cy="310539"/>
          </a:xfrm>
          <a:prstGeom prst="rect">
            <a:avLst/>
          </a:prstGeom>
        </p:spPr>
        <p:txBody>
          <a:bodyPr anchor="t" rtlCol="false" tIns="0" lIns="0" bIns="0" rIns="0">
            <a:spAutoFit/>
          </a:bodyPr>
          <a:lstStyle/>
          <a:p>
            <a:pPr algn="ctr">
              <a:lnSpc>
                <a:spcPts val="2380"/>
              </a:lnSpc>
            </a:pPr>
            <a:r>
              <a:rPr lang="en-US" b="true" sz="1700">
                <a:solidFill>
                  <a:srgbClr val="FFFFFF"/>
                </a:solidFill>
                <a:latin typeface="Helvetica World Bold"/>
                <a:ea typeface="Helvetica World Bold"/>
                <a:cs typeface="Helvetica World Bold"/>
                <a:sym typeface="Helvetica World Bold"/>
              </a:rPr>
              <a:t>FINAL PITCH</a:t>
            </a:r>
          </a:p>
        </p:txBody>
      </p:sp>
      <p:grpSp>
        <p:nvGrpSpPr>
          <p:cNvPr name="Group 106" id="106"/>
          <p:cNvGrpSpPr/>
          <p:nvPr/>
        </p:nvGrpSpPr>
        <p:grpSpPr>
          <a:xfrm rot="0">
            <a:off x="238125" y="9344025"/>
            <a:ext cx="17947632" cy="861864"/>
            <a:chOff x="0" y="0"/>
            <a:chExt cx="4726948" cy="226993"/>
          </a:xfrm>
        </p:grpSpPr>
        <p:sp>
          <p:nvSpPr>
            <p:cNvPr name="Freeform 107" id="107"/>
            <p:cNvSpPr/>
            <p:nvPr/>
          </p:nvSpPr>
          <p:spPr>
            <a:xfrm flipH="false" flipV="false" rot="0">
              <a:off x="0" y="0"/>
              <a:ext cx="4726948" cy="226993"/>
            </a:xfrm>
            <a:custGeom>
              <a:avLst/>
              <a:gdLst/>
              <a:ahLst/>
              <a:cxnLst/>
              <a:rect r="r" b="b" t="t" l="l"/>
              <a:pathLst>
                <a:path h="226993" w="4726948">
                  <a:moveTo>
                    <a:pt x="9921" y="0"/>
                  </a:moveTo>
                  <a:lnTo>
                    <a:pt x="4717027" y="0"/>
                  </a:lnTo>
                  <a:cubicBezTo>
                    <a:pt x="4719658" y="0"/>
                    <a:pt x="4722182" y="1045"/>
                    <a:pt x="4724042" y="2906"/>
                  </a:cubicBezTo>
                  <a:cubicBezTo>
                    <a:pt x="4725903" y="4766"/>
                    <a:pt x="4726948" y="7290"/>
                    <a:pt x="4726948" y="9921"/>
                  </a:cubicBezTo>
                  <a:lnTo>
                    <a:pt x="4726948" y="217072"/>
                  </a:lnTo>
                  <a:cubicBezTo>
                    <a:pt x="4726948" y="219703"/>
                    <a:pt x="4725903" y="222227"/>
                    <a:pt x="4724042" y="224087"/>
                  </a:cubicBezTo>
                  <a:cubicBezTo>
                    <a:pt x="4722182" y="225948"/>
                    <a:pt x="4719658" y="226993"/>
                    <a:pt x="4717027" y="226993"/>
                  </a:cubicBezTo>
                  <a:lnTo>
                    <a:pt x="9921" y="226993"/>
                  </a:lnTo>
                  <a:cubicBezTo>
                    <a:pt x="7290" y="226993"/>
                    <a:pt x="4766" y="225948"/>
                    <a:pt x="2906" y="224087"/>
                  </a:cubicBezTo>
                  <a:cubicBezTo>
                    <a:pt x="1045" y="222227"/>
                    <a:pt x="0" y="219703"/>
                    <a:pt x="0" y="217072"/>
                  </a:cubicBezTo>
                  <a:lnTo>
                    <a:pt x="0" y="9921"/>
                  </a:lnTo>
                  <a:cubicBezTo>
                    <a:pt x="0" y="7290"/>
                    <a:pt x="1045" y="4766"/>
                    <a:pt x="2906" y="2906"/>
                  </a:cubicBezTo>
                  <a:cubicBezTo>
                    <a:pt x="4766" y="1045"/>
                    <a:pt x="7290" y="0"/>
                    <a:pt x="9921" y="0"/>
                  </a:cubicBezTo>
                  <a:close/>
                </a:path>
              </a:pathLst>
            </a:custGeom>
            <a:ln w="38100" cap="rnd">
              <a:solidFill>
                <a:srgbClr val="2B7ECD"/>
              </a:solidFill>
              <a:prstDash val="solid"/>
              <a:round/>
            </a:ln>
          </p:spPr>
        </p:sp>
        <p:sp>
          <p:nvSpPr>
            <p:cNvPr name="TextBox 108" id="108"/>
            <p:cNvSpPr txBox="true"/>
            <p:nvPr/>
          </p:nvSpPr>
          <p:spPr>
            <a:xfrm>
              <a:off x="1250000" y="30000"/>
              <a:ext cx="3450000" cy="800000"/>
            </a:xfrm>
            <a:prstGeom prst="rect">
              <a:avLst/>
            </a:prstGeom>
          </p:spPr>
          <p:txBody>
            <a:bodyPr anchor="t" rtlCol="false" tIns="50800" lIns="76200" bIns="50800" rIns="76200" wrap="square"/>
            <a:lstStyle/>
            <a:p>
              <a:pPr algn="l">
                <a:lnSpc>
                  <a:spcPct val="112000"/>
                </a:lnSpc>
                <a:spcAft>
                  <a:spcPts val="250"/>
                </a:spcAft>
              </a:pPr>
              <a:r>
                <a:rPr b="1" sz="850">
                  <a:solidFill>
                    <a:srgbClr val="1E3A8A"/>
                  </a:solidFill>
                  <a:latin typeface="Arial"/>
                </a:rPr>
                <a:t>• Elevator Pitch: </a:t>
              </a:r>
              <a:r>
                <a:rPr b="0" sz="850">
                  <a:solidFill>
                    <a:srgbClr val="1E293B"/>
                  </a:solidFill>
                  <a:latin typeface="Arial"/>
                </a:rPr>
                <a:t>JEJAK is a phone-only GeoAI decision-support platform that transforms terrain, land cover, and cell infrastructure telemetry into predictive cellular gap warnings and offline safety guidance for hikers. By leveraging cross-country transfer learning and global open geospatial data, JEJAK protects lives in remote mountain trails without requiring costly trail hardware or over-promising coverage certainty.</a:t>
              </a:r>
            </a:p>
            <a:p>
              <a:pPr algn="l">
                <a:lnSpc>
                  <a:spcPct val="112000"/>
                </a:lnSpc>
                <a:spcAft>
                  <a:spcPts val="250"/>
                </a:spcAft>
              </a:pPr>
              <a:r>
                <a:rPr b="1" sz="850" i="1">
                  <a:solidFill>
                    <a:srgbClr val="475569"/>
                  </a:solidFill>
                  <a:latin typeface="Arial"/>
                </a:rPr>
                <a:t>• References &amp; Data Sources: </a:t>
              </a:r>
              <a:r>
                <a:rPr b="0" sz="850" i="1">
                  <a:solidFill>
                    <a:srgbClr val="475569"/>
                  </a:solidFill>
                  <a:latin typeface="Arial"/>
                </a:rPr>
                <a:t>Copernicus DEM 30m, ESA WorldCover 10m, OpenCellID, Ookla Mobile Performance Tiles, Anatel Brazil 4G, FCC BDC US 4G LTE, Ofcom UK 4G Measurements.</a:t>
              </a:r>
            </a:p>
          </p:txBody>
        </p:sp>
      </p:grpSp>
      <p:sp>
        <p:nvSpPr>
          <p:cNvPr name="Freeform 109" id="109"/>
          <p:cNvSpPr/>
          <p:nvPr/>
        </p:nvSpPr>
        <p:spPr>
          <a:xfrm flipH="false" flipV="false" rot="0">
            <a:off x="107575" y="388309"/>
            <a:ext cx="492478" cy="492478"/>
          </a:xfrm>
          <a:custGeom>
            <a:avLst/>
            <a:gdLst/>
            <a:ahLst/>
            <a:cxnLst/>
            <a:rect r="r" b="b" t="t" l="l"/>
            <a:pathLst>
              <a:path h="492478" w="492478">
                <a:moveTo>
                  <a:pt x="0" y="0"/>
                </a:moveTo>
                <a:lnTo>
                  <a:pt x="492477" y="0"/>
                </a:lnTo>
                <a:lnTo>
                  <a:pt x="492477" y="492477"/>
                </a:lnTo>
                <a:lnTo>
                  <a:pt x="0" y="492477"/>
                </a:lnTo>
                <a:lnTo>
                  <a:pt x="0" y="0"/>
                </a:lnTo>
                <a:close/>
              </a:path>
            </a:pathLst>
          </a:custGeom>
          <a:blipFill>
            <a:blip r:embed="rId3"/>
            <a:stretch>
              <a:fillRect l="0" t="0" r="0" b="0"/>
            </a:stretch>
          </a:blipFill>
        </p:spPr>
      </p:sp>
      <p:sp>
        <p:nvSpPr>
          <p:cNvPr name="Freeform 110" id="110"/>
          <p:cNvSpPr/>
          <p:nvPr/>
        </p:nvSpPr>
        <p:spPr>
          <a:xfrm flipH="false" flipV="false" rot="0">
            <a:off x="609577" y="141347"/>
            <a:ext cx="927734" cy="927734"/>
          </a:xfrm>
          <a:custGeom>
            <a:avLst/>
            <a:gdLst/>
            <a:ahLst/>
            <a:cxnLst/>
            <a:rect r="r" b="b" t="t" l="l"/>
            <a:pathLst>
              <a:path h="927734" w="927734">
                <a:moveTo>
                  <a:pt x="0" y="0"/>
                </a:moveTo>
                <a:lnTo>
                  <a:pt x="927734" y="0"/>
                </a:lnTo>
                <a:lnTo>
                  <a:pt x="927734" y="927734"/>
                </a:lnTo>
                <a:lnTo>
                  <a:pt x="0" y="927734"/>
                </a:lnTo>
                <a:lnTo>
                  <a:pt x="0" y="0"/>
                </a:lnTo>
                <a:close/>
              </a:path>
            </a:pathLst>
          </a:custGeom>
          <a:blipFill>
            <a:blip r:embed="rId4"/>
            <a:stretch>
              <a:fillRect l="0" t="0" r="0" b="0"/>
            </a:stretch>
          </a:blipFill>
        </p:spPr>
      </p:sp>
      <p:sp>
        <p:nvSpPr>
          <p:cNvPr name="TextBox 111" id="111"/>
          <p:cNvSpPr txBox="true"/>
          <p:nvPr/>
        </p:nvSpPr>
        <p:spPr>
          <a:xfrm rot="0">
            <a:off x="3909866" y="217630"/>
            <a:ext cx="8976013" cy="531555"/>
          </a:xfrm>
          <a:prstGeom prst="rect">
            <a:avLst/>
          </a:prstGeom>
        </p:spPr>
        <p:txBody>
          <a:bodyPr anchor="t" rtlCol="false" tIns="0" lIns="0" bIns="0" rIns="0">
            <a:spAutoFit/>
          </a:bodyPr>
          <a:lstStyle/>
          <a:p>
            <a:pPr algn="ctr">
              <a:lnSpc>
                <a:spcPts val="3920"/>
              </a:lnSpc>
            </a:pPr>
            <a:r>
              <a:rPr lang="en-US" b="true" sz="2800">
                <a:solidFill>
                  <a:srgbClr val="1B1A1A"/>
                </a:solidFill>
                <a:latin typeface="Helvetica World Bold"/>
                <a:ea typeface="Helvetica World Bold"/>
                <a:cs typeface="Helvetica World Bold"/>
                <a:sym typeface="Helvetica World Bold"/>
              </a:rPr>
              <a:t>PROBLEM-DATA-GeoAI SOLUTION (PDGS) CANVAS </a:t>
            </a:r>
          </a:p>
        </p:txBody>
      </p:sp>
      <p:sp>
        <p:nvSpPr>
          <p:cNvPr name="TextBox 112" id="112"/>
          <p:cNvSpPr txBox="true"/>
          <p:nvPr/>
        </p:nvSpPr>
        <p:spPr>
          <a:xfrm rot="0">
            <a:off x="-3376259" y="1490553"/>
            <a:ext cx="11293164" cy="293999"/>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PROBLEM STATEMENT </a:t>
            </a:r>
          </a:p>
        </p:txBody>
      </p:sp>
      <p:sp>
        <p:nvSpPr>
          <p:cNvPr name="TextBox 113" id="113"/>
          <p:cNvSpPr txBox="true"/>
          <p:nvPr/>
        </p:nvSpPr>
        <p:spPr>
          <a:xfrm rot="0">
            <a:off x="4569606" y="1390654"/>
            <a:ext cx="2433261" cy="590542"/>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STAKEHOLDERS &amp; USERS</a:t>
            </a:r>
          </a:p>
        </p:txBody>
      </p:sp>
      <p:sp>
        <p:nvSpPr>
          <p:cNvPr name="TextBox 114" id="114"/>
          <p:cNvSpPr txBox="true"/>
          <p:nvPr/>
        </p:nvSpPr>
        <p:spPr>
          <a:xfrm rot="0">
            <a:off x="8258175" y="1510351"/>
            <a:ext cx="2316874" cy="293999"/>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SPATIAL CONTEXT</a:t>
            </a:r>
          </a:p>
        </p:txBody>
      </p:sp>
      <p:sp>
        <p:nvSpPr>
          <p:cNvPr name="TextBox 115" id="115"/>
          <p:cNvSpPr txBox="true"/>
          <p:nvPr/>
        </p:nvSpPr>
        <p:spPr>
          <a:xfrm rot="0">
            <a:off x="11447719" y="1529401"/>
            <a:ext cx="3173156" cy="293999"/>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DATA REQUIREMENTS</a:t>
            </a:r>
          </a:p>
        </p:txBody>
      </p:sp>
      <p:sp>
        <p:nvSpPr>
          <p:cNvPr name="TextBox 116" id="116"/>
          <p:cNvSpPr txBox="true"/>
          <p:nvPr/>
        </p:nvSpPr>
        <p:spPr>
          <a:xfrm rot="0">
            <a:off x="15039975" y="1538926"/>
            <a:ext cx="3173156" cy="293999"/>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GeoAI INTELLIGENT</a:t>
            </a:r>
          </a:p>
        </p:txBody>
      </p:sp>
      <p:sp>
        <p:nvSpPr>
          <p:cNvPr name="TextBox 117" id="117"/>
          <p:cNvSpPr txBox="true"/>
          <p:nvPr/>
        </p:nvSpPr>
        <p:spPr>
          <a:xfrm rot="0">
            <a:off x="15186952" y="5419729"/>
            <a:ext cx="2788696" cy="590542"/>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IMPLEMENTATION ROADMAP</a:t>
            </a:r>
          </a:p>
        </p:txBody>
      </p:sp>
      <p:sp>
        <p:nvSpPr>
          <p:cNvPr name="TextBox 118" id="118"/>
          <p:cNvSpPr txBox="true"/>
          <p:nvPr/>
        </p:nvSpPr>
        <p:spPr>
          <a:xfrm rot="0">
            <a:off x="11428669" y="5553075"/>
            <a:ext cx="3173156" cy="293999"/>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VALUE &amp; IMPACT</a:t>
            </a:r>
          </a:p>
        </p:txBody>
      </p:sp>
      <p:sp>
        <p:nvSpPr>
          <p:cNvPr name="TextBox 119" id="119"/>
          <p:cNvSpPr txBox="true"/>
          <p:nvPr/>
        </p:nvSpPr>
        <p:spPr>
          <a:xfrm rot="0">
            <a:off x="7800975" y="5419729"/>
            <a:ext cx="3173156" cy="590542"/>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ETHICS, PRIVACY &amp; SUSTAINABILITY</a:t>
            </a:r>
          </a:p>
        </p:txBody>
      </p:sp>
      <p:sp>
        <p:nvSpPr>
          <p:cNvPr name="TextBox 120" id="120"/>
          <p:cNvSpPr txBox="true"/>
          <p:nvPr/>
        </p:nvSpPr>
        <p:spPr>
          <a:xfrm rot="0">
            <a:off x="4724400" y="5563238"/>
            <a:ext cx="2206811" cy="293999"/>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TECHNOLOGY STACK</a:t>
            </a:r>
          </a:p>
        </p:txBody>
      </p:sp>
      <p:sp>
        <p:nvSpPr>
          <p:cNvPr name="TextBox 121" id="121"/>
          <p:cNvSpPr txBox="true"/>
          <p:nvPr/>
        </p:nvSpPr>
        <p:spPr>
          <a:xfrm rot="0">
            <a:off x="966023" y="5389872"/>
            <a:ext cx="2276414" cy="590542"/>
          </a:xfrm>
          <a:prstGeom prst="rect">
            <a:avLst/>
          </a:prstGeom>
        </p:spPr>
        <p:txBody>
          <a:bodyPr anchor="t" rtlCol="false" tIns="0" lIns="0" bIns="0" rIns="0">
            <a:spAutoFit/>
          </a:bodyPr>
          <a:lstStyle/>
          <a:p>
            <a:pPr algn="ctr">
              <a:lnSpc>
                <a:spcPts val="2240"/>
              </a:lnSpc>
            </a:pPr>
            <a:r>
              <a:rPr lang="en-US" b="true" sz="1600">
                <a:solidFill>
                  <a:srgbClr val="FFFFFF"/>
                </a:solidFill>
                <a:latin typeface="Helvetica World Bold"/>
                <a:ea typeface="Helvetica World Bold"/>
                <a:cs typeface="Helvetica World Bold"/>
                <a:sym typeface="Helvetica World Bold"/>
              </a:rPr>
              <a:t>GEOAI SOLUTION DESIGN</a:t>
            </a:r>
          </a:p>
        </p:txBody>
      </p:sp>
      <p:sp>
        <p:nvSpPr>
          <p:cNvPr name="TextBox 122" id="122"/>
          <p:cNvSpPr txBox="true"/>
          <p:nvPr/>
        </p:nvSpPr>
        <p:spPr>
          <a:xfrm rot="0">
            <a:off x="13315149" y="445575"/>
            <a:ext cx="2472162" cy="687851"/>
          </a:xfrm>
          <a:prstGeom prst="rect">
            <a:avLst/>
          </a:prstGeom>
        </p:spPr>
        <p:txBody>
          <a:bodyPr anchor="t" rtlCol="false" tIns="50800" lIns="76200" bIns="50800" rIns="76200" wrap="square">
            <a:spAutoFit/>
          </a:bodyPr>
          <a:lstStyle/>
          <a:p>
            <a:pPr algn="l">
              <a:lnSpc>
                <a:spcPts val="1680"/>
              </a:lnSpc>
            </a:pPr>
            <a:r>
              <a:rPr b="1" sz="850">
                <a:solidFill>
                  <a:srgbClr val="1E3A8A"/>
                </a:solidFill>
                <a:latin typeface="Arial"/>
              </a:rPr>
              <a:t>Project Title: </a:t>
            </a:r>
            <a:r>
              <a:rPr b="0" sz="850">
                <a:solidFill>
                  <a:srgbClr val="1E293B"/>
                </a:solidFill>
                <a:latin typeface="Arial"/>
              </a:rPr>
              <a:t>JEJAK – Phone-Only GeoAI Connectivity Intelligence for Hiking Safety</a:t>
            </a:r>
          </a:p>
          <a:p>
            <a:pPr algn="l">
              <a:spcBef>
                <a:spcPts val="200"/>
              </a:spcBef>
            </a:pPr>
            <a:r>
              <a:rPr b="1" sz="850">
                <a:solidFill>
                  <a:srgbClr val="1E3A8A"/>
                </a:solidFill>
                <a:latin typeface="Arial"/>
              </a:rPr>
              <a:t>Name: </a:t>
            </a:r>
            <a:r>
              <a:rPr b="0" sz="850">
                <a:solidFill>
                  <a:srgbClr val="1E293B"/>
                </a:solidFill>
                <a:latin typeface="Arial"/>
              </a:rPr>
              <a:t>Muhammad Ashraf</a:t>
            </a:r>
          </a:p>
          <a:p>
            <a:pPr algn="l">
              <a:spcBef>
                <a:spcPts val="200"/>
              </a:spcBef>
            </a:pPr>
            <a:r>
              <a:rPr b="1" sz="850">
                <a:solidFill>
                  <a:srgbClr val="1E3A8A"/>
                </a:solidFill>
                <a:latin typeface="Arial"/>
              </a:rPr>
              <a:t>AGAIF Ref. Code: </a:t>
            </a:r>
            <a:r>
              <a:rPr b="0" sz="850">
                <a:solidFill>
                  <a:srgbClr val="1E293B"/>
                </a:solidFill>
                <a:latin typeface="Arial"/>
              </a:rPr>
              <a:t>MY-411</a:t>
            </a:r>
          </a:p>
        </p:txBody>
      </p:sp>
      <p:sp>
        <p:nvSpPr>
          <p:cNvPr name="TextBox 123" id="123"/>
          <p:cNvSpPr txBox="true"/>
          <p:nvPr/>
        </p:nvSpPr>
        <p:spPr>
          <a:xfrm rot="0">
            <a:off x="2662485" y="711085"/>
            <a:ext cx="11293164" cy="317615"/>
          </a:xfrm>
          <a:prstGeom prst="rect">
            <a:avLst/>
          </a:prstGeom>
        </p:spPr>
        <p:txBody>
          <a:bodyPr anchor="t" rtlCol="false" tIns="0" lIns="0" bIns="0" rIns="0">
            <a:spAutoFit/>
          </a:bodyPr>
          <a:lstStyle/>
          <a:p>
            <a:pPr algn="ctr">
              <a:lnSpc>
                <a:spcPts val="2380"/>
              </a:lnSpc>
            </a:pPr>
            <a:r>
              <a:rPr lang="en-US" b="true" sz="1700">
                <a:solidFill>
                  <a:srgbClr val="737373"/>
                </a:solidFill>
                <a:latin typeface="Helvetica World Bold"/>
                <a:ea typeface="Helvetica World Bold"/>
                <a:cs typeface="Helvetica World Bold"/>
                <a:sym typeface="Helvetica World Bold"/>
              </a:rPr>
              <a:t>From Real-World Problems to Intelligent Geospatial Solutions</a:t>
            </a:r>
          </a:p>
        </p:txBody>
      </p:sp>
      <p:sp>
        <p:nvSpPr>
          <p:cNvPr name="TextBox 124" id="124"/>
          <p:cNvSpPr txBox="true"/>
          <p:nvPr/>
        </p:nvSpPr>
        <p:spPr>
          <a:xfrm rot="0">
            <a:off x="13629408" y="103247"/>
            <a:ext cx="3971693" cy="287002"/>
          </a:xfrm>
          <a:prstGeom prst="rect">
            <a:avLst/>
          </a:prstGeom>
        </p:spPr>
        <p:txBody>
          <a:bodyPr anchor="t" rtlCol="false" tIns="0" lIns="0" bIns="0" rIns="0">
            <a:spAutoFit/>
          </a:bodyPr>
          <a:lstStyle/>
          <a:p>
            <a:pPr algn="ctr">
              <a:lnSpc>
                <a:spcPts val="2100"/>
              </a:lnSpc>
              <a:spcBef>
                <a:spcPct val="0"/>
              </a:spcBef>
            </a:pPr>
            <a:r>
              <a:rPr lang="en-US" b="true" sz="1500">
                <a:solidFill>
                  <a:srgbClr val="FFFFFF"/>
                </a:solidFill>
                <a:latin typeface="Helvetica World Bold"/>
                <a:ea typeface="Helvetica World Bold"/>
                <a:cs typeface="Helvetica World Bold"/>
                <a:sym typeface="Helvetica World Bold"/>
              </a:rPr>
              <a:t>BC1-D1 (Certified Assessment 1)</a:t>
            </a:r>
          </a:p>
        </p:txBody>
      </p:sp>
      <p:sp>
        <p:nvSpPr>
          <p:cNvPr name="AutoShape 125" id="125"/>
          <p:cNvSpPr/>
          <p:nvPr/>
        </p:nvSpPr>
        <p:spPr>
          <a:xfrm>
            <a:off x="707246" y="407589"/>
            <a:ext cx="0" cy="463867"/>
          </a:xfrm>
          <a:prstGeom prst="line">
            <a:avLst/>
          </a:prstGeom>
          <a:ln cap="flat" w="9525">
            <a:solidFill>
              <a:srgbClr val="B4B4B4"/>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DAHPUYFABZQ</dc:identifier>
  <dcterms:modified xsi:type="dcterms:W3CDTF">2011-08-01T06:04:30Z</dcterms:modified>
  <cp:revision>1</cp:revision>
  <dc:title>BC1-D1 (Certified Assessment 1) Template</dc:title>
</cp:coreProperties>
</file>